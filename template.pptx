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1923" r:id="rId5"/>
    <p:sldId id="407" r:id="rId6"/>
    <p:sldId id="1799" r:id="rId7"/>
    <p:sldId id="1885" r:id="rId8"/>
    <p:sldId id="1903" r:id="rId9"/>
    <p:sldId id="1804" r:id="rId10"/>
    <p:sldId id="1902" r:id="rId11"/>
    <p:sldId id="1924" r:id="rId12"/>
    <p:sldId id="1817" r:id="rId13"/>
    <p:sldId id="1884" r:id="rId14"/>
    <p:sldId id="1912" r:id="rId15"/>
    <p:sldId id="1907" r:id="rId16"/>
    <p:sldId id="1887" r:id="rId17"/>
    <p:sldId id="1800" r:id="rId18"/>
    <p:sldId id="1904" r:id="rId19"/>
    <p:sldId id="1908" r:id="rId20"/>
    <p:sldId id="1909" r:id="rId21"/>
    <p:sldId id="1913" r:id="rId22"/>
    <p:sldId id="1920" r:id="rId23"/>
    <p:sldId id="1921" r:id="rId24"/>
    <p:sldId id="1896" r:id="rId25"/>
    <p:sldId id="1919" r:id="rId26"/>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FFF00"/>
    <a:srgbClr val="DEECF8"/>
    <a:srgbClr val="DFF2C0"/>
    <a:srgbClr val="FFDD99"/>
    <a:srgbClr val="A2CFFC"/>
    <a:srgbClr val="CD007A"/>
    <a:srgbClr val="FFD5EE"/>
    <a:srgbClr val="D463AF"/>
    <a:srgbClr val="FFAF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462287-EEEF-B140-9012-7804B2E8B477}" v="22" dt="2026-05-09T18:39:33.9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nes Mclean - WFA" userId="cffa568d-066a-4903-b028-bafd937e5ea6" providerId="ADAL" clId="{BBC503F0-0109-47F6-B1DF-E0A271B1FB53}"/>
    <pc:docChg chg="modSld">
      <pc:chgData name="Innes Mclean - WFA" userId="cffa568d-066a-4903-b028-bafd937e5ea6" providerId="ADAL" clId="{BBC503F0-0109-47F6-B1DF-E0A271B1FB53}" dt="2026-05-06T07:16:05.639" v="50" actId="403"/>
      <pc:docMkLst>
        <pc:docMk/>
      </pc:docMkLst>
      <pc:sldChg chg="modSp mod">
        <pc:chgData name="Innes Mclean - WFA" userId="cffa568d-066a-4903-b028-bafd937e5ea6" providerId="ADAL" clId="{BBC503F0-0109-47F6-B1DF-E0A271B1FB53}" dt="2026-05-05T05:54:41.710" v="30" actId="403"/>
        <pc:sldMkLst>
          <pc:docMk/>
          <pc:sldMk cId="1347850878" sldId="407"/>
        </pc:sldMkLst>
        <pc:spChg chg="mod">
          <ac:chgData name="Innes Mclean - WFA" userId="cffa568d-066a-4903-b028-bafd937e5ea6" providerId="ADAL" clId="{BBC503F0-0109-47F6-B1DF-E0A271B1FB53}" dt="2026-05-05T05:54:41.710" v="30" actId="403"/>
          <ac:spMkLst>
            <pc:docMk/>
            <pc:sldMk cId="1347850878" sldId="407"/>
            <ac:spMk id="8" creationId="{15B06FF4-C6CF-34B8-3889-B400CDA3AAFF}"/>
          </ac:spMkLst>
        </pc:spChg>
      </pc:sldChg>
      <pc:sldChg chg="modSp mod">
        <pc:chgData name="Innes Mclean - WFA" userId="cffa568d-066a-4903-b028-bafd937e5ea6" providerId="ADAL" clId="{BBC503F0-0109-47F6-B1DF-E0A271B1FB53}" dt="2026-05-06T07:16:05.639" v="50" actId="403"/>
        <pc:sldMkLst>
          <pc:docMk/>
          <pc:sldMk cId="3172617500" sldId="1817"/>
        </pc:sldMkLst>
        <pc:spChg chg="mod">
          <ac:chgData name="Innes Mclean - WFA" userId="cffa568d-066a-4903-b028-bafd937e5ea6" providerId="ADAL" clId="{BBC503F0-0109-47F6-B1DF-E0A271B1FB53}" dt="2026-05-06T07:16:05.639" v="50" actId="403"/>
          <ac:spMkLst>
            <pc:docMk/>
            <pc:sldMk cId="3172617500" sldId="1817"/>
            <ac:spMk id="8" creationId="{E3C356D1-4D69-6789-D9E9-77C69F82E055}"/>
          </ac:spMkLst>
        </pc:spChg>
      </pc:sldChg>
    </pc:docChg>
  </pc:docChgLst>
  <pc:docChgLst>
    <pc:chgData name="Innes Mclean - WFA" userId="cffa568d-066a-4903-b028-bafd937e5ea6" providerId="ADAL" clId="{BAFB47AA-30B1-57EF-A3A9-D4A2AD815BD7}"/>
    <pc:docChg chg="custSel modSld">
      <pc:chgData name="Innes Mclean - WFA" userId="cffa568d-066a-4903-b028-bafd937e5ea6" providerId="ADAL" clId="{BAFB47AA-30B1-57EF-A3A9-D4A2AD815BD7}" dt="2026-05-09T18:40:04.620" v="52" actId="404"/>
      <pc:docMkLst>
        <pc:docMk/>
      </pc:docMkLst>
      <pc:sldChg chg="modSp">
        <pc:chgData name="Innes Mclean - WFA" userId="cffa568d-066a-4903-b028-bafd937e5ea6" providerId="ADAL" clId="{BAFB47AA-30B1-57EF-A3A9-D4A2AD815BD7}" dt="2026-05-09T18:37:36.124" v="13" actId="27636"/>
        <pc:sldMkLst>
          <pc:docMk/>
          <pc:sldMk cId="1347850878" sldId="407"/>
        </pc:sldMkLst>
        <pc:grpChg chg="mod">
          <ac:chgData name="Innes Mclean - WFA" userId="cffa568d-066a-4903-b028-bafd937e5ea6" providerId="ADAL" clId="{BAFB47AA-30B1-57EF-A3A9-D4A2AD815BD7}" dt="2026-05-09T18:37:36.124" v="13" actId="27636"/>
          <ac:grpSpMkLst>
            <pc:docMk/>
            <pc:sldMk cId="1347850878" sldId="407"/>
            <ac:grpSpMk id="4" creationId="{5F3F8467-5724-D86C-FDA4-D49533DEC4F0}"/>
          </ac:grpSpMkLst>
        </pc:grpChg>
        <pc:picChg chg="mod">
          <ac:chgData name="Innes Mclean - WFA" userId="cffa568d-066a-4903-b028-bafd937e5ea6" providerId="ADAL" clId="{BAFB47AA-30B1-57EF-A3A9-D4A2AD815BD7}" dt="2026-05-09T18:37:36.069" v="10" actId="1076"/>
          <ac:picMkLst>
            <pc:docMk/>
            <pc:sldMk cId="1347850878" sldId="407"/>
            <ac:picMk id="5" creationId="{2B1C2540-38D6-7D21-7288-1F3B603531FB}"/>
          </ac:picMkLst>
        </pc:picChg>
        <pc:picChg chg="mod">
          <ac:chgData name="Innes Mclean - WFA" userId="cffa568d-066a-4903-b028-bafd937e5ea6" providerId="ADAL" clId="{BAFB47AA-30B1-57EF-A3A9-D4A2AD815BD7}" dt="2026-05-09T18:37:36.069" v="10" actId="1076"/>
          <ac:picMkLst>
            <pc:docMk/>
            <pc:sldMk cId="1347850878" sldId="407"/>
            <ac:picMk id="7" creationId="{8F3344A5-4924-D3BC-68C4-52E2EB3B6D65}"/>
          </ac:picMkLst>
        </pc:picChg>
      </pc:sldChg>
      <pc:sldChg chg="modSp">
        <pc:chgData name="Innes Mclean - WFA" userId="cffa568d-066a-4903-b028-bafd937e5ea6" providerId="ADAL" clId="{BAFB47AA-30B1-57EF-A3A9-D4A2AD815BD7}" dt="2026-05-09T18:39:05.256" v="26" actId="1076"/>
        <pc:sldMkLst>
          <pc:docMk/>
          <pc:sldMk cId="3172617500" sldId="1817"/>
        </pc:sldMkLst>
        <pc:grpChg chg="mod">
          <ac:chgData name="Innes Mclean - WFA" userId="cffa568d-066a-4903-b028-bafd937e5ea6" providerId="ADAL" clId="{BAFB47AA-30B1-57EF-A3A9-D4A2AD815BD7}" dt="2026-05-09T18:39:05.256" v="26" actId="1076"/>
          <ac:grpSpMkLst>
            <pc:docMk/>
            <pc:sldMk cId="3172617500" sldId="1817"/>
            <ac:grpSpMk id="4" creationId="{5F3F8467-5724-D86C-FDA4-D49533DEC4F0}"/>
          </ac:grpSpMkLst>
        </pc:grpChg>
        <pc:picChg chg="mod">
          <ac:chgData name="Innes Mclean - WFA" userId="cffa568d-066a-4903-b028-bafd937e5ea6" providerId="ADAL" clId="{BAFB47AA-30B1-57EF-A3A9-D4A2AD815BD7}" dt="2026-05-09T18:39:05.256" v="26" actId="1076"/>
          <ac:picMkLst>
            <pc:docMk/>
            <pc:sldMk cId="3172617500" sldId="1817"/>
            <ac:picMk id="5" creationId="{2B1C2540-38D6-7D21-7288-1F3B603531FB}"/>
          </ac:picMkLst>
        </pc:picChg>
        <pc:picChg chg="mod">
          <ac:chgData name="Innes Mclean - WFA" userId="cffa568d-066a-4903-b028-bafd937e5ea6" providerId="ADAL" clId="{BAFB47AA-30B1-57EF-A3A9-D4A2AD815BD7}" dt="2026-05-09T18:39:05.256" v="26" actId="1076"/>
          <ac:picMkLst>
            <pc:docMk/>
            <pc:sldMk cId="3172617500" sldId="1817"/>
            <ac:picMk id="7" creationId="{8F3344A5-4924-D3BC-68C4-52E2EB3B6D65}"/>
          </ac:picMkLst>
        </pc:picChg>
      </pc:sldChg>
      <pc:sldChg chg="modSp mod">
        <pc:chgData name="Innes Mclean - WFA" userId="cffa568d-066a-4903-b028-bafd937e5ea6" providerId="ADAL" clId="{BAFB47AA-30B1-57EF-A3A9-D4A2AD815BD7}" dt="2026-05-09T18:38:17.522" v="20" actId="1076"/>
        <pc:sldMkLst>
          <pc:docMk/>
          <pc:sldMk cId="303222904" sldId="1887"/>
        </pc:sldMkLst>
        <pc:spChg chg="mod">
          <ac:chgData name="Innes Mclean - WFA" userId="cffa568d-066a-4903-b028-bafd937e5ea6" providerId="ADAL" clId="{BAFB47AA-30B1-57EF-A3A9-D4A2AD815BD7}" dt="2026-05-09T18:38:17.522" v="20" actId="1076"/>
          <ac:spMkLst>
            <pc:docMk/>
            <pc:sldMk cId="303222904" sldId="1887"/>
            <ac:spMk id="15" creationId="{DB1CFDC9-8812-2D57-F259-9934E0E81FC7}"/>
          </ac:spMkLst>
        </pc:spChg>
      </pc:sldChg>
      <pc:sldChg chg="modSp mod">
        <pc:chgData name="Innes Mclean - WFA" userId="cffa568d-066a-4903-b028-bafd937e5ea6" providerId="ADAL" clId="{BAFB47AA-30B1-57EF-A3A9-D4A2AD815BD7}" dt="2026-05-09T18:40:04.620" v="52" actId="404"/>
        <pc:sldMkLst>
          <pc:docMk/>
          <pc:sldMk cId="907886679" sldId="1908"/>
        </pc:sldMkLst>
        <pc:spChg chg="mod">
          <ac:chgData name="Innes Mclean - WFA" userId="cffa568d-066a-4903-b028-bafd937e5ea6" providerId="ADAL" clId="{BAFB47AA-30B1-57EF-A3A9-D4A2AD815BD7}" dt="2026-05-09T18:40:04.620" v="52" actId="404"/>
          <ac:spMkLst>
            <pc:docMk/>
            <pc:sldMk cId="907886679" sldId="1908"/>
            <ac:spMk id="3" creationId="{B9294B43-D0F7-499A-C696-E649B65C8119}"/>
          </ac:spMkLst>
        </pc:spChg>
        <pc:grpChg chg="mod">
          <ac:chgData name="Innes Mclean - WFA" userId="cffa568d-066a-4903-b028-bafd937e5ea6" providerId="ADAL" clId="{BAFB47AA-30B1-57EF-A3A9-D4A2AD815BD7}" dt="2026-05-09T18:39:33.923" v="32" actId="1076"/>
          <ac:grpSpMkLst>
            <pc:docMk/>
            <pc:sldMk cId="907886679" sldId="1908"/>
            <ac:grpSpMk id="4" creationId="{8A07BED7-A129-128F-5D6A-D4C8413660C5}"/>
          </ac:grpSpMkLst>
        </pc:grpChg>
        <pc:picChg chg="mod">
          <ac:chgData name="Innes Mclean - WFA" userId="cffa568d-066a-4903-b028-bafd937e5ea6" providerId="ADAL" clId="{BAFB47AA-30B1-57EF-A3A9-D4A2AD815BD7}" dt="2026-05-09T18:39:33.923" v="32" actId="1076"/>
          <ac:picMkLst>
            <pc:docMk/>
            <pc:sldMk cId="907886679" sldId="1908"/>
            <ac:picMk id="5" creationId="{EB072FCD-CD3C-4AD5-04A7-08D7997F58F8}"/>
          </ac:picMkLst>
        </pc:picChg>
        <pc:picChg chg="mod">
          <ac:chgData name="Innes Mclean - WFA" userId="cffa568d-066a-4903-b028-bafd937e5ea6" providerId="ADAL" clId="{BAFB47AA-30B1-57EF-A3A9-D4A2AD815BD7}" dt="2026-05-09T18:39:33.923" v="32" actId="1076"/>
          <ac:picMkLst>
            <pc:docMk/>
            <pc:sldMk cId="907886679" sldId="1908"/>
            <ac:picMk id="7" creationId="{4EFC4ADB-6B9C-B3AE-0DF3-351FA8655ECA}"/>
          </ac:picMkLst>
        </pc:picChg>
      </pc:sldChg>
      <pc:sldChg chg="modSp mod">
        <pc:chgData name="Innes Mclean - WFA" userId="cffa568d-066a-4903-b028-bafd937e5ea6" providerId="ADAL" clId="{BAFB47AA-30B1-57EF-A3A9-D4A2AD815BD7}" dt="2026-05-09T18:38:47.812" v="24" actId="1076"/>
        <pc:sldMkLst>
          <pc:docMk/>
          <pc:sldMk cId="4094206605" sldId="1919"/>
        </pc:sldMkLst>
        <pc:spChg chg="mod">
          <ac:chgData name="Innes Mclean - WFA" userId="cffa568d-066a-4903-b028-bafd937e5ea6" providerId="ADAL" clId="{BAFB47AA-30B1-57EF-A3A9-D4A2AD815BD7}" dt="2026-05-09T18:38:47.812" v="24" actId="1076"/>
          <ac:spMkLst>
            <pc:docMk/>
            <pc:sldMk cId="4094206605" sldId="1919"/>
            <ac:spMk id="7" creationId="{2D531562-5165-591B-D14E-450889DD7D41}"/>
          </ac:spMkLst>
        </pc:spChg>
      </pc:sldChg>
      <pc:sldChg chg="modSp mod">
        <pc:chgData name="Innes Mclean - WFA" userId="cffa568d-066a-4903-b028-bafd937e5ea6" providerId="ADAL" clId="{BAFB47AA-30B1-57EF-A3A9-D4A2AD815BD7}" dt="2026-05-09T18:38:30.316" v="21" actId="255"/>
        <pc:sldMkLst>
          <pc:docMk/>
          <pc:sldMk cId="1361178050" sldId="1921"/>
        </pc:sldMkLst>
        <pc:spChg chg="mod">
          <ac:chgData name="Innes Mclean - WFA" userId="cffa568d-066a-4903-b028-bafd937e5ea6" providerId="ADAL" clId="{BAFB47AA-30B1-57EF-A3A9-D4A2AD815BD7}" dt="2026-05-09T18:38:30.316" v="21" actId="255"/>
          <ac:spMkLst>
            <pc:docMk/>
            <pc:sldMk cId="1361178050" sldId="1921"/>
            <ac:spMk id="15" creationId="{0BEF904E-4480-8E4F-C31E-DFA208CAE41F}"/>
          </ac:spMkLst>
        </pc:spChg>
      </pc:sldChg>
    </pc:docChg>
  </pc:docChgLst>
</pc:chgInfo>
</file>

<file path=ppt/ink/ink1.xml><?xml version="1.0" encoding="utf-8"?>
<inkml:ink xmlns:inkml="http://www.w3.org/2003/InkML">
  <inkml:definitions>
    <inkml:context xml:id="ctx0">
      <inkml:inkSource xml:id="inkSrc0">
        <inkml:traceFormat>
          <inkml:channel name="X" type="integer" max="26395" units="cm"/>
          <inkml:channel name="Y" type="integer" max="14847" units="cm"/>
          <inkml:channel name="T" type="integer" max="2.14748E9" units="dev"/>
        </inkml:traceFormat>
        <inkml:channelProperties>
          <inkml:channelProperty channel="X" name="resolution" value="159.99879" units="1/cm"/>
          <inkml:channelProperty channel="Y" name="resolution" value="160.00647" units="1/cm"/>
          <inkml:channelProperty channel="T" name="resolution" value="1" units="1/dev"/>
        </inkml:channelProperties>
      </inkml:inkSource>
      <inkml:timestamp xml:id="ts0" timeString="2025-09-17T12:45:34.864"/>
    </inkml:context>
    <inkml:brush xml:id="br0">
      <inkml:brushProperty name="width" value="0.05292" units="cm"/>
      <inkml:brushProperty name="height" value="0.05292" units="cm"/>
      <inkml:brushProperty name="color" value="#FF0000"/>
    </inkml:brush>
  </inkml:definitions>
  <inkml:trace contextRef="#ctx0" brushRef="#br0">27383 10603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D225DB60-C16B-446D-B5DB-6D7125925E95}" type="datetimeFigureOut">
              <a:rPr lang="en-GB" smtClean="0"/>
              <a:t>09/05/2026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7E8E8B9-ADA3-45E0-8420-BE5E8FCCF1F7}" type="slidenum">
              <a:rPr lang="en-GB" smtClean="0"/>
              <a:t>‹#›</a:t>
            </a:fld>
            <a:endParaRPr lang="en-GB"/>
          </a:p>
        </p:txBody>
      </p:sp>
    </p:spTree>
    <p:extLst>
      <p:ext uri="{BB962C8B-B14F-4D97-AF65-F5344CB8AC3E}">
        <p14:creationId xmlns:p14="http://schemas.microsoft.com/office/powerpoint/2010/main" val="857138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2</a:t>
            </a:fld>
            <a:endParaRPr lang="en-GB"/>
          </a:p>
        </p:txBody>
      </p:sp>
    </p:spTree>
    <p:extLst>
      <p:ext uri="{BB962C8B-B14F-4D97-AF65-F5344CB8AC3E}">
        <p14:creationId xmlns:p14="http://schemas.microsoft.com/office/powerpoint/2010/main" val="1006222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3</a:t>
            </a:fld>
            <a:endParaRPr lang="en-GB"/>
          </a:p>
        </p:txBody>
      </p:sp>
    </p:spTree>
    <p:extLst>
      <p:ext uri="{BB962C8B-B14F-4D97-AF65-F5344CB8AC3E}">
        <p14:creationId xmlns:p14="http://schemas.microsoft.com/office/powerpoint/2010/main" val="697113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90C4-3F63-5CE3-40C0-37C3972A6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53583-2126-636C-06E9-AC409DB6976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94D933-7CA1-A8E0-3C7B-D224B67232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BF62738-39F3-90E4-2B16-74770B32C315}"/>
              </a:ext>
            </a:extLst>
          </p:cNvPr>
          <p:cNvSpPr>
            <a:spLocks noGrp="1"/>
          </p:cNvSpPr>
          <p:nvPr>
            <p:ph type="sldNum" sz="quarter" idx="5"/>
          </p:nvPr>
        </p:nvSpPr>
        <p:spPr/>
        <p:txBody>
          <a:bodyPr/>
          <a:lstStyle/>
          <a:p>
            <a:fld id="{B7E8E8B9-ADA3-45E0-8420-BE5E8FCCF1F7}" type="slidenum">
              <a:rPr lang="en-GB" smtClean="0"/>
              <a:t>4</a:t>
            </a:fld>
            <a:endParaRPr lang="en-GB"/>
          </a:p>
        </p:txBody>
      </p:sp>
    </p:spTree>
    <p:extLst>
      <p:ext uri="{BB962C8B-B14F-4D97-AF65-F5344CB8AC3E}">
        <p14:creationId xmlns:p14="http://schemas.microsoft.com/office/powerpoint/2010/main" val="1299577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1006-C5AD-CE9A-768D-97FEB0FA1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318E-FA05-39EA-68AF-6B9E723A00D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AEEA19-065F-0F91-7D7E-3BF88230403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651696-B6F4-AA2A-3057-6BD30C08333F}"/>
              </a:ext>
            </a:extLst>
          </p:cNvPr>
          <p:cNvSpPr>
            <a:spLocks noGrp="1"/>
          </p:cNvSpPr>
          <p:nvPr>
            <p:ph type="sldNum" sz="quarter" idx="5"/>
          </p:nvPr>
        </p:nvSpPr>
        <p:spPr/>
        <p:txBody>
          <a:bodyPr/>
          <a:lstStyle/>
          <a:p>
            <a:fld id="{B7E8E8B9-ADA3-45E0-8420-BE5E8FCCF1F7}" type="slidenum">
              <a:rPr lang="en-GB" smtClean="0"/>
              <a:t>5</a:t>
            </a:fld>
            <a:endParaRPr lang="en-GB"/>
          </a:p>
        </p:txBody>
      </p:sp>
    </p:spTree>
    <p:extLst>
      <p:ext uri="{BB962C8B-B14F-4D97-AF65-F5344CB8AC3E}">
        <p14:creationId xmlns:p14="http://schemas.microsoft.com/office/powerpoint/2010/main" val="2278952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OH ES &amp; KW reading phonically decodable version with TP</a:t>
            </a:r>
          </a:p>
        </p:txBody>
      </p:sp>
      <p:sp>
        <p:nvSpPr>
          <p:cNvPr id="4" name="Slide Number Placeholder 3"/>
          <p:cNvSpPr>
            <a:spLocks noGrp="1"/>
          </p:cNvSpPr>
          <p:nvPr>
            <p:ph type="sldNum" sz="quarter" idx="5"/>
          </p:nvPr>
        </p:nvSpPr>
        <p:spPr/>
        <p:txBody>
          <a:bodyPr/>
          <a:lstStyle/>
          <a:p>
            <a:fld id="{B7E8E8B9-ADA3-45E0-8420-BE5E8FCCF1F7}" type="slidenum">
              <a:rPr lang="en-GB" smtClean="0"/>
              <a:t>6</a:t>
            </a:fld>
            <a:endParaRPr lang="en-GB"/>
          </a:p>
        </p:txBody>
      </p:sp>
    </p:spTree>
    <p:extLst>
      <p:ext uri="{BB962C8B-B14F-4D97-AF65-F5344CB8AC3E}">
        <p14:creationId xmlns:p14="http://schemas.microsoft.com/office/powerpoint/2010/main" val="3813405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11416-2BF0-1BF0-993C-D7EDF44CE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AD52C-A15F-345E-DEC9-153A113F16D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F11A5D-2009-B729-C92B-9C76C84A13B9}"/>
              </a:ext>
            </a:extLst>
          </p:cNvPr>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a:extLst>
              <a:ext uri="{FF2B5EF4-FFF2-40B4-BE49-F238E27FC236}">
                <a16:creationId xmlns:a16="http://schemas.microsoft.com/office/drawing/2014/main" id="{19A8A58E-928C-8E71-2814-F5DCBF204BB4}"/>
              </a:ext>
            </a:extLst>
          </p:cNvPr>
          <p:cNvSpPr>
            <a:spLocks noGrp="1"/>
          </p:cNvSpPr>
          <p:nvPr>
            <p:ph type="sldNum" sz="quarter" idx="5"/>
          </p:nvPr>
        </p:nvSpPr>
        <p:spPr/>
        <p:txBody>
          <a:bodyPr/>
          <a:lstStyle/>
          <a:p>
            <a:fld id="{B7E8E8B9-ADA3-45E0-8420-BE5E8FCCF1F7}" type="slidenum">
              <a:rPr lang="en-GB" smtClean="0"/>
              <a:t>10</a:t>
            </a:fld>
            <a:endParaRPr lang="en-GB"/>
          </a:p>
        </p:txBody>
      </p:sp>
    </p:spTree>
    <p:extLst>
      <p:ext uri="{BB962C8B-B14F-4D97-AF65-F5344CB8AC3E}">
        <p14:creationId xmlns:p14="http://schemas.microsoft.com/office/powerpoint/2010/main" val="3293585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3071-2F46-9644-A2D0-B7A516A87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F26A4-4C33-FD41-8664-9FFE0D6857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023575B-F319-685A-F4EB-043ABE52686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6D2E282-AD31-3D4D-FFE7-ECB14224B778}"/>
              </a:ext>
            </a:extLst>
          </p:cNvPr>
          <p:cNvSpPr>
            <a:spLocks noGrp="1"/>
          </p:cNvSpPr>
          <p:nvPr>
            <p:ph type="sldNum" sz="quarter" idx="5"/>
          </p:nvPr>
        </p:nvSpPr>
        <p:spPr/>
        <p:txBody>
          <a:bodyPr/>
          <a:lstStyle/>
          <a:p>
            <a:fld id="{B7E8E8B9-ADA3-45E0-8420-BE5E8FCCF1F7}" type="slidenum">
              <a:rPr lang="en-GB" smtClean="0"/>
              <a:t>11</a:t>
            </a:fld>
            <a:endParaRPr lang="en-GB"/>
          </a:p>
        </p:txBody>
      </p:sp>
    </p:spTree>
    <p:extLst>
      <p:ext uri="{BB962C8B-B14F-4D97-AF65-F5344CB8AC3E}">
        <p14:creationId xmlns:p14="http://schemas.microsoft.com/office/powerpoint/2010/main" val="2304213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E6B0-A6BD-A747-E971-48B8368E9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0842B-70A3-6A87-DE71-DC5CDBBC8C2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84E4DBC-5075-4DA5-C90B-BB7261D973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90E457-613E-E4B9-F2D4-8EB91F55A8B1}"/>
              </a:ext>
            </a:extLst>
          </p:cNvPr>
          <p:cNvSpPr>
            <a:spLocks noGrp="1"/>
          </p:cNvSpPr>
          <p:nvPr>
            <p:ph type="sldNum" sz="quarter" idx="5"/>
          </p:nvPr>
        </p:nvSpPr>
        <p:spPr/>
        <p:txBody>
          <a:bodyPr/>
          <a:lstStyle/>
          <a:p>
            <a:fld id="{B7E8E8B9-ADA3-45E0-8420-BE5E8FCCF1F7}" type="slidenum">
              <a:rPr lang="en-GB" smtClean="0"/>
              <a:t>12</a:t>
            </a:fld>
            <a:endParaRPr lang="en-GB"/>
          </a:p>
        </p:txBody>
      </p:sp>
    </p:spTree>
    <p:extLst>
      <p:ext uri="{BB962C8B-B14F-4D97-AF65-F5344CB8AC3E}">
        <p14:creationId xmlns:p14="http://schemas.microsoft.com/office/powerpoint/2010/main" val="732070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BE0DF-E15F-5B7F-F1A7-97D7767E0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DCBFC-DD36-F38E-02CE-18E5BFA080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BA88D1-8153-ACA0-4EC1-0560A2F1293A}"/>
              </a:ext>
            </a:extLst>
          </p:cNvPr>
          <p:cNvSpPr>
            <a:spLocks noGrp="1"/>
          </p:cNvSpPr>
          <p:nvPr>
            <p:ph type="body" idx="1"/>
          </p:nvPr>
        </p:nvSpPr>
        <p:spPr/>
        <p:txBody>
          <a:bodyPr/>
          <a:lstStyle/>
          <a:p>
            <a:r>
              <a:rPr lang="en-GB"/>
              <a:t>OH ES &amp; KW reading phonically decodable version with TP</a:t>
            </a:r>
          </a:p>
        </p:txBody>
      </p:sp>
      <p:sp>
        <p:nvSpPr>
          <p:cNvPr id="4" name="Slide Number Placeholder 3">
            <a:extLst>
              <a:ext uri="{FF2B5EF4-FFF2-40B4-BE49-F238E27FC236}">
                <a16:creationId xmlns:a16="http://schemas.microsoft.com/office/drawing/2014/main" id="{AEDBB03C-83C0-8406-0E5B-977918F0DAB0}"/>
              </a:ext>
            </a:extLst>
          </p:cNvPr>
          <p:cNvSpPr>
            <a:spLocks noGrp="1"/>
          </p:cNvSpPr>
          <p:nvPr>
            <p:ph type="sldNum" sz="quarter" idx="5"/>
          </p:nvPr>
        </p:nvSpPr>
        <p:spPr/>
        <p:txBody>
          <a:bodyPr/>
          <a:lstStyle/>
          <a:p>
            <a:fld id="{B7E8E8B9-ADA3-45E0-8420-BE5E8FCCF1F7}" type="slidenum">
              <a:rPr lang="en-GB" smtClean="0"/>
              <a:t>13</a:t>
            </a:fld>
            <a:endParaRPr lang="en-GB"/>
          </a:p>
        </p:txBody>
      </p:sp>
    </p:spTree>
    <p:extLst>
      <p:ext uri="{BB962C8B-B14F-4D97-AF65-F5344CB8AC3E}">
        <p14:creationId xmlns:p14="http://schemas.microsoft.com/office/powerpoint/2010/main" val="4012600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5E5B6-995B-06E1-859F-BF15CFC8A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32D25-BE24-76DC-6982-51B27DCB57C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814F376-83A0-4DF8-609E-B23F6C5BE07E}"/>
              </a:ext>
            </a:extLst>
          </p:cNvPr>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a:extLst>
              <a:ext uri="{FF2B5EF4-FFF2-40B4-BE49-F238E27FC236}">
                <a16:creationId xmlns:a16="http://schemas.microsoft.com/office/drawing/2014/main" id="{74E627E4-53E0-D9EE-1CB2-13B380EF6879}"/>
              </a:ext>
            </a:extLst>
          </p:cNvPr>
          <p:cNvSpPr>
            <a:spLocks noGrp="1"/>
          </p:cNvSpPr>
          <p:nvPr>
            <p:ph type="sldNum" sz="quarter" idx="5"/>
          </p:nvPr>
        </p:nvSpPr>
        <p:spPr/>
        <p:txBody>
          <a:bodyPr/>
          <a:lstStyle/>
          <a:p>
            <a:fld id="{B7E8E8B9-ADA3-45E0-8420-BE5E8FCCF1F7}" type="slidenum">
              <a:rPr lang="en-GB" smtClean="0"/>
              <a:t>17</a:t>
            </a:fld>
            <a:endParaRPr lang="en-GB"/>
          </a:p>
        </p:txBody>
      </p:sp>
    </p:spTree>
    <p:extLst>
      <p:ext uri="{BB962C8B-B14F-4D97-AF65-F5344CB8AC3E}">
        <p14:creationId xmlns:p14="http://schemas.microsoft.com/office/powerpoint/2010/main" val="109684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553AC-411A-9E6C-17CE-9591E1A35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60780-7FF9-CEA4-A882-F220E90240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9F83843-3909-DD8F-48EA-7285EB689C6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15C6BDC-896C-9A5C-8703-452D0968DBFE}"/>
              </a:ext>
            </a:extLst>
          </p:cNvPr>
          <p:cNvSpPr>
            <a:spLocks noGrp="1"/>
          </p:cNvSpPr>
          <p:nvPr>
            <p:ph type="sldNum" sz="quarter" idx="5"/>
          </p:nvPr>
        </p:nvSpPr>
        <p:spPr/>
        <p:txBody>
          <a:bodyPr/>
          <a:lstStyle/>
          <a:p>
            <a:fld id="{B7E8E8B9-ADA3-45E0-8420-BE5E8FCCF1F7}" type="slidenum">
              <a:rPr lang="en-GB" smtClean="0"/>
              <a:t>18</a:t>
            </a:fld>
            <a:endParaRPr lang="en-GB"/>
          </a:p>
        </p:txBody>
      </p:sp>
    </p:spTree>
    <p:extLst>
      <p:ext uri="{BB962C8B-B14F-4D97-AF65-F5344CB8AC3E}">
        <p14:creationId xmlns:p14="http://schemas.microsoft.com/office/powerpoint/2010/main" val="207191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592FE-AD2D-E4D1-9B0C-9DFDB4995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853B1-48D8-8F01-AC9C-CCD2C9A0880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EE4B035-9A28-EA73-0CB0-056B53CB132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3948C10-BF7E-8587-4699-965CCA26DE7F}"/>
              </a:ext>
            </a:extLst>
          </p:cNvPr>
          <p:cNvSpPr>
            <a:spLocks noGrp="1"/>
          </p:cNvSpPr>
          <p:nvPr>
            <p:ph type="sldNum" sz="quarter" idx="5"/>
          </p:nvPr>
        </p:nvSpPr>
        <p:spPr/>
        <p:txBody>
          <a:bodyPr/>
          <a:lstStyle/>
          <a:p>
            <a:fld id="{B7E8E8B9-ADA3-45E0-8420-BE5E8FCCF1F7}" type="slidenum">
              <a:rPr lang="en-GB" smtClean="0"/>
              <a:t>19</a:t>
            </a:fld>
            <a:endParaRPr lang="en-GB"/>
          </a:p>
        </p:txBody>
      </p:sp>
    </p:spTree>
    <p:extLst>
      <p:ext uri="{BB962C8B-B14F-4D97-AF65-F5344CB8AC3E}">
        <p14:creationId xmlns:p14="http://schemas.microsoft.com/office/powerpoint/2010/main" val="257838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0E302-3EFD-7269-9A40-F0149982A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B1FF8-1663-A096-D3B1-AC8B08ACA24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4D62901-71EE-F9CC-4779-D7F787513448}"/>
              </a:ext>
            </a:extLst>
          </p:cNvPr>
          <p:cNvSpPr>
            <a:spLocks noGrp="1"/>
          </p:cNvSpPr>
          <p:nvPr>
            <p:ph type="body" idx="1"/>
          </p:nvPr>
        </p:nvSpPr>
        <p:spPr/>
        <p:txBody>
          <a:bodyPr/>
          <a:lstStyle/>
          <a:p>
            <a:r>
              <a:rPr lang="en-GB"/>
              <a:t>OH ES &amp; KW reading phonically decodable version with TP</a:t>
            </a:r>
          </a:p>
        </p:txBody>
      </p:sp>
      <p:sp>
        <p:nvSpPr>
          <p:cNvPr id="4" name="Slide Number Placeholder 3">
            <a:extLst>
              <a:ext uri="{FF2B5EF4-FFF2-40B4-BE49-F238E27FC236}">
                <a16:creationId xmlns:a16="http://schemas.microsoft.com/office/drawing/2014/main" id="{1C3E2E3B-9DD4-CE82-57B8-2DFF48981304}"/>
              </a:ext>
            </a:extLst>
          </p:cNvPr>
          <p:cNvSpPr>
            <a:spLocks noGrp="1"/>
          </p:cNvSpPr>
          <p:nvPr>
            <p:ph type="sldNum" sz="quarter" idx="5"/>
          </p:nvPr>
        </p:nvSpPr>
        <p:spPr/>
        <p:txBody>
          <a:bodyPr/>
          <a:lstStyle/>
          <a:p>
            <a:fld id="{B7E8E8B9-ADA3-45E0-8420-BE5E8FCCF1F7}" type="slidenum">
              <a:rPr lang="en-GB" smtClean="0"/>
              <a:t>20</a:t>
            </a:fld>
            <a:endParaRPr lang="en-GB"/>
          </a:p>
        </p:txBody>
      </p:sp>
    </p:spTree>
    <p:extLst>
      <p:ext uri="{BB962C8B-B14F-4D97-AF65-F5344CB8AC3E}">
        <p14:creationId xmlns:p14="http://schemas.microsoft.com/office/powerpoint/2010/main" val="654130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5A21D-2FCA-5103-944C-97A33EAB49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451915-D313-134F-3B39-E2202692B0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0492851-C45E-2C62-1686-35F05261BF4A}"/>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5" name="Footer Placeholder 4">
            <a:extLst>
              <a:ext uri="{FF2B5EF4-FFF2-40B4-BE49-F238E27FC236}">
                <a16:creationId xmlns:a16="http://schemas.microsoft.com/office/drawing/2014/main" id="{5565C8CD-ED83-6186-0E09-D60B801105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1FC3CD-1629-3981-C514-EA809A6DA1BC}"/>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17367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F554-C9DF-1E20-73BD-9BEBF65F85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7DEC16-6EFE-8F98-D786-F7FA33F73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F50926-EAE1-8CBC-B944-95606793B845}"/>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5" name="Footer Placeholder 4">
            <a:extLst>
              <a:ext uri="{FF2B5EF4-FFF2-40B4-BE49-F238E27FC236}">
                <a16:creationId xmlns:a16="http://schemas.microsoft.com/office/drawing/2014/main" id="{80EDD0ED-4188-0860-8E6D-81E93458E3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AE27D8-31F7-1112-ED89-AD6BFC9E010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48879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DCD8-D0E7-C7D8-C221-D51F0B6814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84F57CA-859A-366E-BD81-B51EB9F3F1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816810-0B04-441A-BDC2-5334A4ED6B8F}"/>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5" name="Footer Placeholder 4">
            <a:extLst>
              <a:ext uri="{FF2B5EF4-FFF2-40B4-BE49-F238E27FC236}">
                <a16:creationId xmlns:a16="http://schemas.microsoft.com/office/drawing/2014/main" id="{967743A6-7DF3-3A54-9EA1-0818278D5B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0B308D-ED7A-41CA-CE45-BFD4B52EE3FF}"/>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569579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C61B-06CA-A5BD-FF28-522B3C1C5EC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6A4604E-C7F9-DE00-FC0E-9D0430CBD1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2FC8481-8445-D097-8868-FEBEF36308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AA810B-D0B6-055B-A7B2-A91D9312431E}"/>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6" name="Footer Placeholder 5">
            <a:extLst>
              <a:ext uri="{FF2B5EF4-FFF2-40B4-BE49-F238E27FC236}">
                <a16:creationId xmlns:a16="http://schemas.microsoft.com/office/drawing/2014/main" id="{A3AD80D6-ABB1-0B43-2EF6-728A9BF7FF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1F566E-8C59-14B0-1B4A-013D19195555}"/>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1311204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D8B9-6D91-0488-0B6B-D8925368CB7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3EC770-FFE0-0BCE-D25B-ED842005CA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CAE04-0440-4429-84C8-7BB448E061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013C1A-78C5-C6A1-01F4-1F918414BE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5F05FB-98EA-3A71-20AF-C01DB3BD78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A7D365-8161-72FD-ABB1-1B60E1F31FF2}"/>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8" name="Footer Placeholder 7">
            <a:extLst>
              <a:ext uri="{FF2B5EF4-FFF2-40B4-BE49-F238E27FC236}">
                <a16:creationId xmlns:a16="http://schemas.microsoft.com/office/drawing/2014/main" id="{DD4C5E40-7DE8-3AB1-5251-3786AB7A839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28ECA8F-EE24-6FAE-06B6-EAB0AA8C899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117855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966A-38F6-03A2-7850-CBC3564D366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C653EE-AB8C-20D9-EBAD-D2C658811A8D}"/>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4" name="Footer Placeholder 3">
            <a:extLst>
              <a:ext uri="{FF2B5EF4-FFF2-40B4-BE49-F238E27FC236}">
                <a16:creationId xmlns:a16="http://schemas.microsoft.com/office/drawing/2014/main" id="{4B8671EA-7A81-2488-CC64-F7AA1FA5BC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D3FA76E-F712-5B71-1F05-B2754EBC1D19}"/>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21796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7460A9-9D13-270B-29A4-50F492C07A7C}"/>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3" name="Footer Placeholder 2">
            <a:extLst>
              <a:ext uri="{FF2B5EF4-FFF2-40B4-BE49-F238E27FC236}">
                <a16:creationId xmlns:a16="http://schemas.microsoft.com/office/drawing/2014/main" id="{3A1BD67B-379B-C75C-2673-E3D7E24073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727B918-0F9C-09A3-037D-B8A188A3028B}"/>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75554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DC67F-FB8D-658E-598C-C851430A8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BFDB75E-8915-32DA-B58D-D893D67450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2C66A0-5168-1295-9EEA-6F4269952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462D3-A952-91CB-DCE0-30ED606AE43C}"/>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6" name="Footer Placeholder 5">
            <a:extLst>
              <a:ext uri="{FF2B5EF4-FFF2-40B4-BE49-F238E27FC236}">
                <a16:creationId xmlns:a16="http://schemas.microsoft.com/office/drawing/2014/main" id="{7AECD06D-C0FC-9664-2ACD-9DF3C518AB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F2D1BB-BAD7-3C27-EF7C-8769CDC6FC62}"/>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349846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3220F-DE75-7293-BA54-A820732EB0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A7D88C-152E-EE3F-9132-C786827FA5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B973C0-9031-5A51-8DC0-CD8C2DBD6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C7FE28-2AB1-A1AE-1DC1-2891CD211974}"/>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6" name="Footer Placeholder 5">
            <a:extLst>
              <a:ext uri="{FF2B5EF4-FFF2-40B4-BE49-F238E27FC236}">
                <a16:creationId xmlns:a16="http://schemas.microsoft.com/office/drawing/2014/main" id="{4CFC7DF7-EE0C-A96A-0A71-4A20704DA6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F354D7-FA08-FBD4-1D6D-7C0D0115C50D}"/>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364942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DE38-C159-DD3F-3419-061EC2706C5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4A78D7-9DB6-9FE7-D6A5-0D8C511397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38ECF6-30BD-892C-0F30-CDFA8424ACF6}"/>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5" name="Footer Placeholder 4">
            <a:extLst>
              <a:ext uri="{FF2B5EF4-FFF2-40B4-BE49-F238E27FC236}">
                <a16:creationId xmlns:a16="http://schemas.microsoft.com/office/drawing/2014/main" id="{A79E0C5A-96D4-3102-5A52-240B1FD840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C3AA66-3D0D-0085-C81D-088B396324C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1953395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868FC3-86B3-8BF7-3C43-D7286B46EA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EA911C-6657-35D6-8679-F5861CAE8D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7097C1-61F4-5117-4F0F-D1B0C168769E}"/>
              </a:ext>
            </a:extLst>
          </p:cNvPr>
          <p:cNvSpPr>
            <a:spLocks noGrp="1"/>
          </p:cNvSpPr>
          <p:nvPr>
            <p:ph type="dt" sz="half" idx="10"/>
          </p:nvPr>
        </p:nvSpPr>
        <p:spPr/>
        <p:txBody>
          <a:bodyPr/>
          <a:lstStyle/>
          <a:p>
            <a:fld id="{8B72D5E0-039A-4068-97A9-A3C4BF080BAA}" type="datetimeFigureOut">
              <a:rPr lang="en-GB" smtClean="0"/>
              <a:t>09/05/2026</a:t>
            </a:fld>
            <a:endParaRPr lang="en-GB"/>
          </a:p>
        </p:txBody>
      </p:sp>
      <p:sp>
        <p:nvSpPr>
          <p:cNvPr id="5" name="Footer Placeholder 4">
            <a:extLst>
              <a:ext uri="{FF2B5EF4-FFF2-40B4-BE49-F238E27FC236}">
                <a16:creationId xmlns:a16="http://schemas.microsoft.com/office/drawing/2014/main" id="{B2F7DD80-E551-6693-517F-57C80BD89A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C51674-A2E1-4818-8900-91FBB812AB3E}"/>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74756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5C16C3-8E98-21FD-43ED-3AA697B77A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9AA3022-3424-75B4-F2EC-7CEB8FA07C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C25384-14A1-0395-EDE6-D2A60BCE49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72D5E0-039A-4068-97A9-A3C4BF080BAA}" type="datetimeFigureOut">
              <a:rPr lang="en-GB" smtClean="0"/>
              <a:t>09/05/2026</a:t>
            </a:fld>
            <a:endParaRPr lang="en-GB"/>
          </a:p>
        </p:txBody>
      </p:sp>
      <p:sp>
        <p:nvSpPr>
          <p:cNvPr id="5" name="Footer Placeholder 4">
            <a:extLst>
              <a:ext uri="{FF2B5EF4-FFF2-40B4-BE49-F238E27FC236}">
                <a16:creationId xmlns:a16="http://schemas.microsoft.com/office/drawing/2014/main" id="{09290F1D-4E4C-69C6-26A7-CE1716791C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634093-083B-3EA6-BBB8-95BE7409B0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D7094B-D2BC-452F-93E3-9C4A8FC9449E}" type="slidenum">
              <a:rPr lang="en-GB" smtClean="0"/>
              <a:t>‹#›</a:t>
            </a:fld>
            <a:endParaRPr lang="en-GB"/>
          </a:p>
        </p:txBody>
      </p:sp>
    </p:spTree>
    <p:extLst>
      <p:ext uri="{BB962C8B-B14F-4D97-AF65-F5344CB8AC3E}">
        <p14:creationId xmlns:p14="http://schemas.microsoft.com/office/powerpoint/2010/main" val="699722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white grid with black text  Description automatically generated">
            <a:extLst>
              <a:ext uri="{FF2B5EF4-FFF2-40B4-BE49-F238E27FC236}">
                <a16:creationId xmlns:a16="http://schemas.microsoft.com/office/drawing/2014/main" id="{1B42834E-5B1E-8CE4-BEEE-8784E10AE2DF}"/>
              </a:ext>
            </a:extLst>
          </p:cNvPr>
          <p:cNvPicPr>
            <a:picLocks noChangeAspect="1"/>
          </p:cNvPicPr>
          <p:nvPr/>
        </p:nvPicPr>
        <p:blipFill>
          <a:blip r:embed="rId2"/>
          <a:stretch>
            <a:fillRect/>
          </a:stretch>
        </p:blipFill>
        <p:spPr>
          <a:xfrm>
            <a:off x="343349" y="169879"/>
            <a:ext cx="10272264" cy="6455163"/>
          </a:xfrm>
          <a:prstGeom prst="rect">
            <a:avLst/>
          </a:prstGeom>
        </p:spPr>
      </p:pic>
    </p:spTree>
    <p:extLst>
      <p:ext uri="{BB962C8B-B14F-4D97-AF65-F5344CB8AC3E}">
        <p14:creationId xmlns:p14="http://schemas.microsoft.com/office/powerpoint/2010/main" val="1269628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dirty="0">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568895" y="211840"/>
            <a:ext cx="3039122" cy="3522775"/>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3" name="TextBox 2">
            <a:extLst>
              <a:ext uri="{FF2B5EF4-FFF2-40B4-BE49-F238E27FC236}">
                <a16:creationId xmlns:a16="http://schemas.microsoft.com/office/drawing/2014/main" id="{9AA1DE16-8C7B-4868-2DE3-9C9C7D7D4324}"/>
              </a:ext>
            </a:extLst>
          </p:cNvPr>
          <p:cNvSpPr txBox="1"/>
          <p:nvPr/>
        </p:nvSpPr>
        <p:spPr>
          <a:xfrm>
            <a:off x="0" y="4552141"/>
            <a:ext cx="12192000" cy="707886"/>
          </a:xfrm>
          <a:prstGeom prst="rect">
            <a:avLst/>
          </a:prstGeom>
          <a:noFill/>
        </p:spPr>
        <p:txBody>
          <a:bodyPr wrap="square" rtlCol="0">
            <a:spAutoFit/>
          </a:bodyPr>
          <a:lstStyle/>
          <a:p>
            <a:pPr algn="ctr"/>
            <a:r>
              <a:rPr lang="en-GB" sz="4000"/>
              <a:t>Lesson 1 - Vocabulary</a:t>
            </a:r>
            <a:endParaRPr lang="en-GB"/>
          </a:p>
        </p:txBody>
      </p:sp>
      <p:sp>
        <p:nvSpPr>
          <p:cNvPr id="8" name="TextBox 7">
            <a:extLst>
              <a:ext uri="{FF2B5EF4-FFF2-40B4-BE49-F238E27FC236}">
                <a16:creationId xmlns:a16="http://schemas.microsoft.com/office/drawing/2014/main" id="{15B06FF4-C6CF-34B8-3889-B400CDA3AAFF}"/>
              </a:ext>
            </a:extLst>
          </p:cNvPr>
          <p:cNvSpPr txBox="1"/>
          <p:nvPr/>
        </p:nvSpPr>
        <p:spPr>
          <a:xfrm>
            <a:off x="4423577" y="5199610"/>
            <a:ext cx="3329758" cy="1446550"/>
          </a:xfrm>
          <a:prstGeom prst="rect">
            <a:avLst/>
          </a:prstGeom>
          <a:noFill/>
        </p:spPr>
        <p:txBody>
          <a:bodyPr wrap="none" rtlCol="0" anchor="ctr">
            <a:spAutoFit/>
          </a:bodyPr>
          <a:lstStyle/>
          <a:p>
            <a:pPr algn="ctr"/>
            <a:r>
              <a:rPr lang="en-GB" sz="8800" dirty="0"/>
              <a:t>Tuesday</a:t>
            </a:r>
          </a:p>
        </p:txBody>
      </p:sp>
    </p:spTree>
    <p:extLst>
      <p:ext uri="{BB962C8B-B14F-4D97-AF65-F5344CB8AC3E}">
        <p14:creationId xmlns:p14="http://schemas.microsoft.com/office/powerpoint/2010/main" val="1347850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ACEAB2A-6943-1061-22CF-9EC0847829D7}"/>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9DEE78A-07A9-5FF3-9D78-C0D9D21EEFB2}"/>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16D2B17F-CF26-33D2-B6F6-70299CA1A763}"/>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the world around me.</a:t>
            </a:r>
          </a:p>
        </p:txBody>
      </p:sp>
      <p:pic>
        <p:nvPicPr>
          <p:cNvPr id="7" name="Picture 6">
            <a:extLst>
              <a:ext uri="{FF2B5EF4-FFF2-40B4-BE49-F238E27FC236}">
                <a16:creationId xmlns:a16="http://schemas.microsoft.com/office/drawing/2014/main" id="{3DF6A32D-163D-40C2-BACF-C964E0035D2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A25D9A8A-09E0-BBBE-0C18-2E1880E52773}"/>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950C5C2B-42CC-39EC-6847-EE394E29BB3C}"/>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We love to read, learn to read and read to learn! </a:t>
            </a:r>
          </a:p>
        </p:txBody>
      </p:sp>
      <p:pic>
        <p:nvPicPr>
          <p:cNvPr id="3" name="Picture 2">
            <a:extLst>
              <a:ext uri="{FF2B5EF4-FFF2-40B4-BE49-F238E27FC236}">
                <a16:creationId xmlns:a16="http://schemas.microsoft.com/office/drawing/2014/main" id="{121AB0E8-B43D-DFDE-C896-2046E6E618BA}"/>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306826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3C5AD-3309-A9A5-F848-B93CB7BC5FD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B9D8A55-04E7-0528-A165-9FB98DB89054}"/>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2E1FDC99-0FE5-B42D-815D-42276802132E}"/>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1E5DC868-7EB8-4F7D-7DAE-A2A8DBE0A20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DACB8AB4-1258-EA30-31A5-77EEA5A000F2}"/>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659AE26C-55EC-A139-FEFB-5E8B79ECFD3A}"/>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086FA3C6-53FE-7451-6D4F-7009D38010D4}"/>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F75FCCA-8003-024B-2B29-0EDF6D801F3D}"/>
                  </a:ext>
                </a:extLst>
              </p14:cNvPr>
              <p14:cNvContentPartPr/>
              <p14:nvPr/>
            </p14:nvContentPartPr>
            <p14:xfrm>
              <a:off x="9034477" y="550400"/>
              <a:ext cx="360" cy="360"/>
            </p14:xfrm>
          </p:contentPart>
        </mc:Choice>
        <mc:Fallback xmlns="">
          <p:pic>
            <p:nvPicPr>
              <p:cNvPr id="3" name="Ink 2">
                <a:extLst>
                  <a:ext uri="{FF2B5EF4-FFF2-40B4-BE49-F238E27FC236}">
                    <a16:creationId xmlns:a16="http://schemas.microsoft.com/office/drawing/2014/main" id="{9F75FCCA-8003-024B-2B29-0EDF6D801F3D}"/>
                  </a:ext>
                </a:extLst>
              </p:cNvPr>
              <p:cNvPicPr/>
              <p:nvPr/>
            </p:nvPicPr>
            <p:blipFill>
              <a:blip r:embed="rId5"/>
              <a:stretch>
                <a:fillRect/>
              </a:stretch>
            </p:blipFill>
            <p:spPr>
              <a:xfrm>
                <a:off x="9025117" y="541040"/>
                <a:ext cx="19080" cy="19080"/>
              </a:xfrm>
              <a:prstGeom prst="rect">
                <a:avLst/>
              </a:prstGeom>
            </p:spPr>
          </p:pic>
        </mc:Fallback>
      </mc:AlternateContent>
      <p:graphicFrame>
        <p:nvGraphicFramePr>
          <p:cNvPr id="7" name="Table 6">
            <a:extLst>
              <a:ext uri="{FF2B5EF4-FFF2-40B4-BE49-F238E27FC236}">
                <a16:creationId xmlns:a16="http://schemas.microsoft.com/office/drawing/2014/main" id="{AD7A6C68-D614-2377-056B-781707D2F236}"/>
              </a:ext>
            </a:extLst>
          </p:cNvPr>
          <p:cNvGraphicFramePr>
            <a:graphicFrameLocks noGrp="1"/>
          </p:cNvGraphicFramePr>
          <p:nvPr>
            <p:extLst>
              <p:ext uri="{D42A27DB-BD31-4B8C-83A1-F6EECF244321}">
                <p14:modId xmlns:p14="http://schemas.microsoft.com/office/powerpoint/2010/main" val="1699889933"/>
              </p:ext>
            </p:extLst>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insulate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stop sound or heat from passing through a material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absorb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take something in so that it cannot pass through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muffle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make a sound quieter by surrounding or blocking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dense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closely and heavily packed together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transmit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pass something through or from one place to another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114E80EC-EDEA-A9B8-0AA7-BDF4DBA738D9}"/>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3" name="Rectangle 12">
            <a:extLst>
              <a:ext uri="{FF2B5EF4-FFF2-40B4-BE49-F238E27FC236}">
                <a16:creationId xmlns:a16="http://schemas.microsoft.com/office/drawing/2014/main" id="{2CF9C0CB-B38A-8B6C-0680-46BD300AE1DC}"/>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7" name="Rectangle 16">
            <a:extLst>
              <a:ext uri="{FF2B5EF4-FFF2-40B4-BE49-F238E27FC236}">
                <a16:creationId xmlns:a16="http://schemas.microsoft.com/office/drawing/2014/main" id="{4BF34747-0A22-7E80-CA39-94571BB7D672}"/>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8" name="Rectangle 17">
            <a:extLst>
              <a:ext uri="{FF2B5EF4-FFF2-40B4-BE49-F238E27FC236}">
                <a16:creationId xmlns:a16="http://schemas.microsoft.com/office/drawing/2014/main" id="{FB910803-A54A-5B45-8345-8FFD7AC1C67C}"/>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9" name="Rectangle 18">
            <a:extLst>
              <a:ext uri="{FF2B5EF4-FFF2-40B4-BE49-F238E27FC236}">
                <a16:creationId xmlns:a16="http://schemas.microsoft.com/office/drawing/2014/main" id="{DB05B3E1-CB09-5A78-B03C-31610DE59A67}"/>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Tree>
    <p:extLst>
      <p:ext uri="{BB962C8B-B14F-4D97-AF65-F5344CB8AC3E}">
        <p14:creationId xmlns:p14="http://schemas.microsoft.com/office/powerpoint/2010/main" val="42679432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2" restart="whenNotActive" fill="hold" evtFilter="cancelBubble" nodeType="interactiveSeq">
                <p:stCondLst>
                  <p:cond evt="onClick" delay="0">
                    <p:tgtEl>
                      <p:spTgt spid="1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3"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C497C-5676-F0CE-9C15-81908FA1F34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DCBDDC3-E8B4-5DB7-95EB-E4EB767438DF}"/>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4D7EC211-6C19-B85F-7D0D-25A8FEEA3637}"/>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6358CBDE-7D41-F226-3072-41F208B4D98A}"/>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9CDE4E57-6664-84F7-C8E9-8F4381A4D091}"/>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3B86A135-C8BF-2285-F3AA-0B4C5706CE90}"/>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07FF75F1-41FF-EEA3-B802-ED64112A7D02}"/>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98F68A2F-1F77-2878-BCF5-883045F28026}"/>
              </a:ext>
            </a:extLst>
          </p:cNvPr>
          <p:cNvGraphicFramePr>
            <a:graphicFrameLocks noGrp="1"/>
          </p:cNvGraphicFramePr>
          <p:nvPr>
            <p:extLst>
              <p:ext uri="{D42A27DB-BD31-4B8C-83A1-F6EECF244321}">
                <p14:modId xmlns:p14="http://schemas.microsoft.com/office/powerpoint/2010/main" val="1646693654"/>
              </p:ext>
            </p:extLst>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b="0">
                        <a:solidFill>
                          <a:schemeClr val="tx1"/>
                        </a:solidFill>
                      </a:endParaRPr>
                    </a:p>
                    <a:p>
                      <a:pPr algn="ctr"/>
                      <a:r>
                        <a:rPr lang="en-GB" sz="3200" b="0">
                          <a:solidFill>
                            <a:schemeClr val="tx1"/>
                          </a:solidFill>
                          <a:latin typeface="XCCW Joined 4a" panose="03050602040000000000" pitchFamily="66" charset="77"/>
                        </a:rPr>
                        <a:t>absorb</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755B9240-8989-B9DB-0B3B-B8D062E07BC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7904627B-45D6-BE36-7042-C69B53AD1828}"/>
              </a:ext>
            </a:extLst>
          </p:cNvPr>
          <p:cNvSpPr txBox="1"/>
          <p:nvPr/>
        </p:nvSpPr>
        <p:spPr>
          <a:xfrm>
            <a:off x="4766154" y="5299847"/>
            <a:ext cx="2400000" cy="480000"/>
          </a:xfrm>
          <a:prstGeom prst="rect">
            <a:avLst/>
          </a:prstGeom>
          <a:noFill/>
        </p:spPr>
        <p:txBody>
          <a:bodyPr wrap="square" rtlCol="0" anchor="ctr"/>
          <a:lstStyle/>
          <a:p>
            <a:pPr algn="ctr"/>
            <a:r>
              <a:rPr lang="en-GB"/>
              <a:t>absorb</a:t>
            </a:r>
          </a:p>
        </p:txBody>
      </p:sp>
      <p:cxnSp>
        <p:nvCxnSpPr>
          <p:cNvPr id="12" name="Straight Connector 11">
            <a:extLst>
              <a:ext uri="{FF2B5EF4-FFF2-40B4-BE49-F238E27FC236}">
                <a16:creationId xmlns:a16="http://schemas.microsoft.com/office/drawing/2014/main" id="{483F9876-11CA-68D4-B5B9-503CB1452DDF}"/>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7DD069-433E-BF48-9167-8E5BCC114624}"/>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37026A-B5E7-A43B-7015-F91BED67059F}"/>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7576966-8817-48AF-F837-0832462F5E46}"/>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EE6038E-2E20-39E1-51AA-382FB77B2D40}"/>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2949455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C8F1879-9C69-AABD-5D27-70A3FD61C54F}"/>
              </a:ext>
            </a:extLst>
          </p:cNvPr>
          <p:cNvGrpSpPr/>
          <p:nvPr/>
        </p:nvGrpSpPr>
        <p:grpSpPr>
          <a:xfrm>
            <a:off x="43957" y="90546"/>
            <a:ext cx="963274" cy="909579"/>
            <a:chOff x="1630613" y="1026138"/>
            <a:chExt cx="1316831" cy="1316831"/>
          </a:xfrm>
        </p:grpSpPr>
        <p:sp>
          <p:nvSpPr>
            <p:cNvPr id="4" name="Oval 3">
              <a:extLst>
                <a:ext uri="{FF2B5EF4-FFF2-40B4-BE49-F238E27FC236}">
                  <a16:creationId xmlns:a16="http://schemas.microsoft.com/office/drawing/2014/main" id="{C5A04DD0-FF30-895F-0ED9-888B47B1A02D}"/>
                </a:ext>
              </a:extLst>
            </p:cNvPr>
            <p:cNvSpPr/>
            <p:nvPr/>
          </p:nvSpPr>
          <p:spPr>
            <a:xfrm>
              <a:off x="1630613" y="1026138"/>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5" name="Oval 4">
              <a:extLst>
                <a:ext uri="{FF2B5EF4-FFF2-40B4-BE49-F238E27FC236}">
                  <a16:creationId xmlns:a16="http://schemas.microsoft.com/office/drawing/2014/main" id="{8EBD88F1-D64A-0A71-7434-4A250ABBD4E6}"/>
                </a:ext>
              </a:extLst>
            </p:cNvPr>
            <p:cNvSpPr txBox="1"/>
            <p:nvPr/>
          </p:nvSpPr>
          <p:spPr>
            <a:xfrm>
              <a:off x="1823458"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latin typeface="Sassoon Infant Rg" panose="02000503030000020003" pitchFamily="2" charset="0"/>
                  <a:ea typeface="Sassoon Infant Rg" panose="02000503030000020003" pitchFamily="2" charset="0"/>
                </a:rPr>
                <a:t>Decoding &amp; phonics</a:t>
              </a:r>
            </a:p>
          </p:txBody>
        </p:sp>
      </p:grpSp>
      <p:pic>
        <p:nvPicPr>
          <p:cNvPr id="11" name="Picture 10">
            <a:extLst>
              <a:ext uri="{FF2B5EF4-FFF2-40B4-BE49-F238E27FC236}">
                <a16:creationId xmlns:a16="http://schemas.microsoft.com/office/drawing/2014/main" id="{5B88EF2C-3893-9BD5-87F9-6BF0F699F9A5}"/>
              </a:ext>
            </a:extLst>
          </p:cNvPr>
          <p:cNvPicPr/>
          <p:nvPr/>
        </p:nvPicPr>
        <p:blipFill>
          <a:blip r:embed="rId3">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D07968F0-1915-728F-1F6D-2CB9277677F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Independent Read</a:t>
            </a:r>
          </a:p>
        </p:txBody>
      </p:sp>
      <p:sp>
        <p:nvSpPr>
          <p:cNvPr id="22" name="TextBox 21">
            <a:extLst>
              <a:ext uri="{FF2B5EF4-FFF2-40B4-BE49-F238E27FC236}">
                <a16:creationId xmlns:a16="http://schemas.microsoft.com/office/drawing/2014/main" id="{BBE494B4-E4A1-C48A-15E2-3683EA0AD086}"/>
              </a:ext>
            </a:extLst>
          </p:cNvPr>
          <p:cNvSpPr txBox="1"/>
          <p:nvPr/>
        </p:nvSpPr>
        <p:spPr>
          <a:xfrm>
            <a:off x="1" y="1007097"/>
            <a:ext cx="12191999" cy="830997"/>
          </a:xfrm>
          <a:prstGeom prst="rect">
            <a:avLst/>
          </a:prstGeom>
          <a:noFill/>
        </p:spPr>
        <p:txBody>
          <a:bodyPr wrap="square">
            <a:spAutoFit/>
          </a:bodyPr>
          <a:lstStyle/>
          <a:p>
            <a:pPr algn="ctr"/>
            <a:r>
              <a:rPr lang="en-GB" sz="1800" dirty="0">
                <a:effectLst/>
                <a:latin typeface="Sassoon Infant Rg" panose="02000503030000020003" pitchFamily="2" charset="0"/>
                <a:ea typeface="Sassoon Infant Rg" panose="02000503030000020003" pitchFamily="2" charset="0"/>
                <a:cs typeface="Times New Roman" panose="02020603050405020304" pitchFamily="18" charset="0"/>
              </a:rPr>
              <a:t>Read the complete text – underline any words or phrases you don’t understand.  Re-read full sentences for any parts you couldn’t read smoothly on the first attempt. </a:t>
            </a:r>
            <a:endParaRPr lang="en-GB" b="1" dirty="0"/>
          </a:p>
        </p:txBody>
      </p:sp>
      <p:sp>
        <p:nvSpPr>
          <p:cNvPr id="6" name="TextBox 5">
            <a:extLst>
              <a:ext uri="{FF2B5EF4-FFF2-40B4-BE49-F238E27FC236}">
                <a16:creationId xmlns:a16="http://schemas.microsoft.com/office/drawing/2014/main" id="{38C25E62-7AE0-A783-1D87-77105CAB659E}"/>
              </a:ext>
            </a:extLst>
          </p:cNvPr>
          <p:cNvSpPr txBox="1"/>
          <p:nvPr/>
        </p:nvSpPr>
        <p:spPr>
          <a:xfrm>
            <a:off x="2226896" y="3673314"/>
            <a:ext cx="7629665" cy="2308324"/>
          </a:xfrm>
          <a:prstGeom prst="rect">
            <a:avLst/>
          </a:prstGeom>
          <a:noFill/>
        </p:spPr>
        <p:txBody>
          <a:bodyPr wrap="square" rtlCol="0">
            <a:spAutoFit/>
          </a:bodyPr>
          <a:lstStyle/>
          <a:p>
            <a:endParaRPr lang="en-GB"/>
          </a:p>
          <a:p>
            <a:pPr marL="342900" indent="-342900">
              <a:buFont typeface="+mj-lt"/>
              <a:buAutoNum type="arabicPeriod"/>
            </a:pPr>
            <a:r>
              <a:rPr lang="en-GB"/>
              <a:t>Read by segmenting into phonemes and syllables</a:t>
            </a:r>
          </a:p>
          <a:p>
            <a:pPr marL="342900" indent="-342900">
              <a:buFont typeface="+mj-lt"/>
              <a:buAutoNum type="arabicPeriod"/>
            </a:pPr>
            <a:r>
              <a:rPr lang="en-GB"/>
              <a:t>Make a sensible attempt, making sure you blend ALL the sounds as you read.</a:t>
            </a:r>
          </a:p>
          <a:p>
            <a:pPr marL="342900" indent="-342900">
              <a:buFont typeface="+mj-lt"/>
              <a:buAutoNum type="arabicPeriod"/>
            </a:pPr>
            <a:r>
              <a:rPr lang="en-GB"/>
              <a:t>Use the context and parts of the word to make a sensible attempt at a definition.</a:t>
            </a:r>
          </a:p>
          <a:p>
            <a:pPr marL="342900" indent="-342900">
              <a:buFont typeface="+mj-lt"/>
              <a:buAutoNum type="arabicPeriod"/>
            </a:pPr>
            <a:endParaRPr lang="en-GB"/>
          </a:p>
          <a:p>
            <a:r>
              <a:rPr lang="en-GB"/>
              <a:t>Remember to re-read the entire sentence again.</a:t>
            </a:r>
          </a:p>
        </p:txBody>
      </p:sp>
      <p:pic>
        <p:nvPicPr>
          <p:cNvPr id="2" name="Picture 1">
            <a:extLst>
              <a:ext uri="{FF2B5EF4-FFF2-40B4-BE49-F238E27FC236}">
                <a16:creationId xmlns:a16="http://schemas.microsoft.com/office/drawing/2014/main" id="{4A238304-94B7-D6B3-84C9-8D8F6CDD2BB4}"/>
              </a:ext>
            </a:extLst>
          </p:cNvPr>
          <p:cNvPicPr>
            <a:picLocks noChangeAspect="1"/>
          </p:cNvPicPr>
          <p:nvPr/>
        </p:nvPicPr>
        <p:blipFill>
          <a:blip r:embed="rId4"/>
          <a:stretch>
            <a:fillRect/>
          </a:stretch>
        </p:blipFill>
        <p:spPr>
          <a:xfrm>
            <a:off x="866163" y="2097530"/>
            <a:ext cx="10351133" cy="1434810"/>
          </a:xfrm>
          <a:prstGeom prst="rect">
            <a:avLst/>
          </a:prstGeom>
        </p:spPr>
      </p:pic>
      <p:sp>
        <p:nvSpPr>
          <p:cNvPr id="13" name="TextBox 12">
            <a:extLst>
              <a:ext uri="{FF2B5EF4-FFF2-40B4-BE49-F238E27FC236}">
                <a16:creationId xmlns:a16="http://schemas.microsoft.com/office/drawing/2014/main" id="{A473D780-1F99-6094-42B5-9820D9017C99}"/>
              </a:ext>
            </a:extLst>
          </p:cNvPr>
          <p:cNvSpPr txBox="1"/>
          <p:nvPr/>
        </p:nvSpPr>
        <p:spPr>
          <a:xfrm>
            <a:off x="-2406316" y="1524000"/>
            <a:ext cx="184731" cy="369332"/>
          </a:xfrm>
          <a:prstGeom prst="rect">
            <a:avLst/>
          </a:prstGeom>
          <a:noFill/>
        </p:spPr>
        <p:txBody>
          <a:bodyPr wrap="none" rtlCol="0">
            <a:spAutoFit/>
          </a:bodyPr>
          <a:lstStyle/>
          <a:p>
            <a:endParaRPr lang="en-GB"/>
          </a:p>
        </p:txBody>
      </p:sp>
      <p:sp>
        <p:nvSpPr>
          <p:cNvPr id="15" name="TextBox 14">
            <a:extLst>
              <a:ext uri="{FF2B5EF4-FFF2-40B4-BE49-F238E27FC236}">
                <a16:creationId xmlns:a16="http://schemas.microsoft.com/office/drawing/2014/main" id="{E15A5C10-306D-554F-EAA6-B73E5AF3D6C7}"/>
              </a:ext>
            </a:extLst>
          </p:cNvPr>
          <p:cNvSpPr txBox="1"/>
          <p:nvPr/>
        </p:nvSpPr>
        <p:spPr>
          <a:xfrm>
            <a:off x="209488" y="1865629"/>
            <a:ext cx="11861201" cy="3985274"/>
          </a:xfrm>
          <a:prstGeom prst="rect">
            <a:avLst/>
          </a:prstGeom>
          <a:solidFill>
            <a:schemeClr val="accent5">
              <a:lumMod val="20000"/>
              <a:lumOff val="80000"/>
            </a:schemeClr>
          </a:solidFill>
        </p:spPr>
        <p:txBody>
          <a:bodyPr wrap="square" anchor="ctr">
            <a:noAutofit/>
          </a:bodyPr>
          <a:lstStyle/>
          <a:p>
            <a:r>
              <a:rPr lang="en-US" sz="2200" dirty="0"/>
              <a:t>Sound does not just travel — it can also be stopped. The key is choosing the right material. When sound waves hit a soft, thick material such as foam, heavy fabric or carpet, the vibrations are absorbed. The material takes in the energy of the sound and turns it into a tiny amount of heat, so the sound cannot pass through. Dense materials like brick and concrete work differently. Because their particles are so tightly packed and heavy, vibrations struggle to transmit through them. The sound bounces back or is dampened before it can travel far. These properties are used all around us. Recording studios are lined with special foam panels on every wall. The foam absorbs the sound waves so they do not bounce around the room and muddle the recording. Concert halls are designed so that sound stays lively enough to be enjoyable but does not become an echoing mess. Ear defenders — the chunky headphones worn by builders and people at loud events — use thick, dense materials to muffle the sound before it reaches the eardrum. Sound insulation is not just about comfort. In hospitals and schools, controlling noise levels helps people concentrate and recover. Engineers test materials carefully to find out how well they insulate against sound, because the difference between a good material and a poor one can be significant.</a:t>
            </a:r>
          </a:p>
        </p:txBody>
      </p:sp>
      <p:sp>
        <p:nvSpPr>
          <p:cNvPr id="10" name="Rounded Rectangle 9">
            <a:extLst>
              <a:ext uri="{FF2B5EF4-FFF2-40B4-BE49-F238E27FC236}">
                <a16:creationId xmlns:a16="http://schemas.microsoft.com/office/drawing/2014/main" id="{911D3733-5EF2-7482-D164-B776AE41E9CC}"/>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Show / Hide Extract</a:t>
            </a:r>
          </a:p>
        </p:txBody>
      </p:sp>
    </p:spTree>
    <p:extLst>
      <p:ext uri="{BB962C8B-B14F-4D97-AF65-F5344CB8AC3E}">
        <p14:creationId xmlns:p14="http://schemas.microsoft.com/office/powerpoint/2010/main" val="92301034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5" grpId="0" animBg="1"/>
      <p:bldP spid="15"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5917-BDE9-A483-7A0D-AC15BA636611}"/>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3E3AA9AF-9E3C-B821-0C95-D4AA63DFFCBB}"/>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BC8D8944-1BCF-D4B0-7DAF-EF76646CCF50}"/>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6EE8B722-85CC-7111-AF8B-97EEBEE9A272}"/>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AD3569E1-8E04-B7BA-0398-4180BE3B0EE3}"/>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FFC19485-EC34-F070-3B3F-978F61587575}"/>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3C0DDE4A-9E8B-5BE3-65C1-A3FA2705ACB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A0F1A2A6-045F-00C7-688E-E6D0A25D5652}"/>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408A8433-A9BE-1E56-2965-99A3B5625947}"/>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27A24A2D-2408-EB9E-5F70-46F514294503}"/>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2946C962-D08C-0F71-45B1-FA00B59721B8}"/>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60E1483D-26A7-A33B-B0CD-B1044C4A76B4}"/>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ED4713C7-97EE-A5B0-8FC6-4CE70EA350BC}"/>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72843B94-CA11-5143-DFB7-BE14CB303150}"/>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CDA984DD-4FC4-64A0-887A-0A817B977071}"/>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understand and take meaning from a text.</a:t>
            </a:r>
          </a:p>
        </p:txBody>
      </p:sp>
      <p:sp>
        <p:nvSpPr>
          <p:cNvPr id="20" name="Rectangle 19">
            <a:extLst>
              <a:ext uri="{FF2B5EF4-FFF2-40B4-BE49-F238E27FC236}">
                <a16:creationId xmlns:a16="http://schemas.microsoft.com/office/drawing/2014/main" id="{3A23222B-35F4-3CDC-5FEA-1C58CE4A933A}"/>
              </a:ext>
            </a:extLst>
          </p:cNvPr>
          <p:cNvSpPr/>
          <p:nvPr/>
        </p:nvSpPr>
        <p:spPr>
          <a:xfrm>
            <a:off x="5597291" y="4824722"/>
            <a:ext cx="5583685" cy="1200329"/>
          </a:xfrm>
          <a:prstGeom prst="rect">
            <a:avLst/>
          </a:prstGeom>
          <a:noFill/>
        </p:spPr>
        <p:txBody>
          <a:bodyPr wrap="square">
            <a:spAutoFit/>
          </a:bodyPr>
          <a:lstStyle/>
          <a:p>
            <a:r>
              <a:rPr lang="en-GB" sz="2400">
                <a:latin typeface="+mj-lt"/>
              </a:rPr>
              <a:t>I will show this by answering questions which relate to the vocabulary used throughout the text.</a:t>
            </a:r>
          </a:p>
        </p:txBody>
      </p:sp>
      <p:grpSp>
        <p:nvGrpSpPr>
          <p:cNvPr id="26" name="Group 25">
            <a:extLst>
              <a:ext uri="{FF2B5EF4-FFF2-40B4-BE49-F238E27FC236}">
                <a16:creationId xmlns:a16="http://schemas.microsoft.com/office/drawing/2014/main" id="{F0FA508C-6CB1-E76E-F0A8-B64E6C4CD90D}"/>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3F558219-13F1-436A-59AF-11B90D95ABA1}"/>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33569914-364A-6AF1-85F1-0BFCF4FDB1A8}"/>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B90D4CDA-08E3-0ED1-C1FB-0242710F0D9A}"/>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8139F2B2-DE54-7CE1-CCBE-1C4164F07AC7}"/>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721B1AA3-17DD-506B-9B14-CDFF5EA0BECB}"/>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3A69BFB0-E1DC-E3FA-6EA3-821A27D46522}"/>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my understanding of vocabulary at a sentence and text level.</a:t>
            </a:r>
          </a:p>
        </p:txBody>
      </p:sp>
      <p:grpSp>
        <p:nvGrpSpPr>
          <p:cNvPr id="3" name="Group 2">
            <a:extLst>
              <a:ext uri="{FF2B5EF4-FFF2-40B4-BE49-F238E27FC236}">
                <a16:creationId xmlns:a16="http://schemas.microsoft.com/office/drawing/2014/main" id="{AB1D5BFC-9C6F-78FE-BB55-8A787A315711}"/>
              </a:ext>
            </a:extLst>
          </p:cNvPr>
          <p:cNvGrpSpPr/>
          <p:nvPr/>
        </p:nvGrpSpPr>
        <p:grpSpPr>
          <a:xfrm>
            <a:off x="10607910" y="233361"/>
            <a:ext cx="1316831" cy="1316831"/>
            <a:chOff x="5180554" y="1026138"/>
            <a:chExt cx="1316831" cy="1316831"/>
          </a:xfrm>
        </p:grpSpPr>
        <p:sp>
          <p:nvSpPr>
            <p:cNvPr id="4" name="Oval 3">
              <a:extLst>
                <a:ext uri="{FF2B5EF4-FFF2-40B4-BE49-F238E27FC236}">
                  <a16:creationId xmlns:a16="http://schemas.microsoft.com/office/drawing/2014/main" id="{30C90C35-E0BE-7AD4-92BC-8EFF113E4DB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1" name="Oval 4">
              <a:extLst>
                <a:ext uri="{FF2B5EF4-FFF2-40B4-BE49-F238E27FC236}">
                  <a16:creationId xmlns:a16="http://schemas.microsoft.com/office/drawing/2014/main" id="{D5E138FF-7604-1E33-555D-87C2C96CBE05}"/>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Tree>
    <p:extLst>
      <p:ext uri="{BB962C8B-B14F-4D97-AF65-F5344CB8AC3E}">
        <p14:creationId xmlns:p14="http://schemas.microsoft.com/office/powerpoint/2010/main" val="4048027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F7DB-6538-E176-FE28-8F1AD25656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21690-854A-3024-D098-1C56DE57443E}"/>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6" name="TextBox 5">
            <a:extLst>
              <a:ext uri="{FF2B5EF4-FFF2-40B4-BE49-F238E27FC236}">
                <a16:creationId xmlns:a16="http://schemas.microsoft.com/office/drawing/2014/main" id="{AEC30692-9C94-A8DB-4755-85FE74DE9821}"/>
              </a:ext>
            </a:extLst>
          </p:cNvPr>
          <p:cNvSpPr txBox="1"/>
          <p:nvPr/>
        </p:nvSpPr>
        <p:spPr>
          <a:xfrm>
            <a:off x="288098" y="335454"/>
            <a:ext cx="6864956" cy="707886"/>
          </a:xfrm>
          <a:prstGeom prst="rect">
            <a:avLst/>
          </a:prstGeom>
          <a:noFill/>
        </p:spPr>
        <p:txBody>
          <a:bodyPr wrap="none" rtlCol="0">
            <a:spAutoFit/>
          </a:bodyPr>
          <a:lstStyle/>
          <a:p>
            <a:r>
              <a:rPr lang="en-GB" sz="4000" b="1" u="sng"/>
              <a:t>Practice questions - Vocabulary</a:t>
            </a:r>
          </a:p>
        </p:txBody>
      </p:sp>
      <p:pic>
        <p:nvPicPr>
          <p:cNvPr id="7" name="Picture 6">
            <a:extLst>
              <a:ext uri="{FF2B5EF4-FFF2-40B4-BE49-F238E27FC236}">
                <a16:creationId xmlns:a16="http://schemas.microsoft.com/office/drawing/2014/main" id="{E0AB4FA0-4B96-F850-DD50-18A5FD657BB8}"/>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
        <p:nvSpPr>
          <p:cNvPr id="4" name="Rounded Rectangle 9">
            <a:extLst>
              <a:ext uri="{FF2B5EF4-FFF2-40B4-BE49-F238E27FC236}">
                <a16:creationId xmlns:a16="http://schemas.microsoft.com/office/drawing/2014/main" id="{2A06B04F-B021-4121-0C16-7A5BACEFBC1B}"/>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0" name="TextBox 9">
            <a:extLst>
              <a:ext uri="{FF2B5EF4-FFF2-40B4-BE49-F238E27FC236}">
                <a16:creationId xmlns:a16="http://schemas.microsoft.com/office/drawing/2014/main" id="{C064352E-4E96-13BD-C58F-5EEC5E15F4B5}"/>
              </a:ext>
            </a:extLst>
          </p:cNvPr>
          <p:cNvSpPr txBox="1"/>
          <p:nvPr/>
        </p:nvSpPr>
        <p:spPr>
          <a:xfrm>
            <a:off x="418368" y="1463046"/>
            <a:ext cx="11355262" cy="2246769"/>
          </a:xfrm>
          <a:prstGeom prst="rect">
            <a:avLst/>
          </a:prstGeom>
          <a:noFill/>
        </p:spPr>
        <p:txBody>
          <a:bodyPr wrap="square" rtlCol="0">
            <a:spAutoFit/>
          </a:bodyPr>
          <a:lstStyle/>
          <a:p>
            <a:r>
              <a:rPr lang="en-US" sz="1900"/>
              <a:t>How do foam panels in a recording studio help with sound?</a:t>
            </a:r>
          </a:p>
          <a:p>
            <a:r>
              <a:rPr lang="en-US" sz="1900"/>
              <a:t>The foam absorbs the sound waves, taking in the vibrations so they cannot bounce around the room and muddle the recording.</a:t>
            </a:r>
          </a:p>
          <a:p>
            <a:endParaRPr lang="en-US" sz="1900"/>
          </a:p>
          <a:p>
            <a:r>
              <a:rPr lang="en-US" sz="1900"/>
              <a:t>Why are dense materials like brick good at stopping sound? Use the word 'particles'.</a:t>
            </a:r>
          </a:p>
          <a:p>
            <a:r>
              <a:rPr lang="en-US" sz="1900"/>
              <a:t>Dense materials have particles packed so tightly together that vibrations struggle to transmit through them — the sound cannot get through.</a:t>
            </a:r>
          </a:p>
        </p:txBody>
      </p:sp>
      <p:sp>
        <p:nvSpPr>
          <p:cNvPr id="3" name="TextBox 2">
            <a:extLst>
              <a:ext uri="{FF2B5EF4-FFF2-40B4-BE49-F238E27FC236}">
                <a16:creationId xmlns:a16="http://schemas.microsoft.com/office/drawing/2014/main" id="{EBAE955F-2F2B-1B4A-4719-6AB782D998C5}"/>
              </a:ext>
            </a:extLst>
          </p:cNvPr>
          <p:cNvSpPr txBox="1"/>
          <p:nvPr/>
        </p:nvSpPr>
        <p:spPr>
          <a:xfrm>
            <a:off x="145774" y="1043340"/>
            <a:ext cx="12046226" cy="4585423"/>
          </a:xfrm>
          <a:prstGeom prst="rect">
            <a:avLst/>
          </a:prstGeom>
          <a:solidFill>
            <a:schemeClr val="accent5">
              <a:lumMod val="20000"/>
              <a:lumOff val="80000"/>
            </a:schemeClr>
          </a:solidFill>
        </p:spPr>
        <p:txBody>
          <a:bodyPr wrap="square" anchor="ctr">
            <a:noAutofit/>
          </a:bodyPr>
          <a:lstStyle/>
          <a:p>
            <a:r>
              <a:rPr lang="en-US" sz="2200"/>
              <a:t>Sound does not just travel — it can also be stopped. The key is choosing the right material. When sound waves hit a soft, thick material such as foam, heavy fabric or carpet, the vibrations are absorbed. The material takes in the energy of the sound and turns it into a tiny amount of heat, so the sound cannot pass through. Dense materials like brick and concrete work differently. Because their particles are so tightly packed and heavy, vibrations struggle to transmit through them. The sound bounces back or is dampened before it can travel far. These properties are used all around us. Recording studios are lined with special foam panels on every wall. The foam absorbs the sound waves so they do not bounce around the room and muddle the recording. Concert halls are designed so that sound stays lively enough to be enjoyable but does not become an echoing mess. Ear defenders — the chunky headphones worn by builders and people at loud events — use thick, dense materials to muffle the sound before it reaches the eardrum. Sound insulation is not just about comfort. In hospitals and schools, controlling noise levels helps people concentrate and recover. Engineers test materials carefully to find out how well they insulate against sound, because the difference between a good material and a poor one can be significant.</a:t>
            </a:r>
          </a:p>
        </p:txBody>
      </p:sp>
    </p:spTree>
    <p:extLst>
      <p:ext uri="{BB962C8B-B14F-4D97-AF65-F5344CB8AC3E}">
        <p14:creationId xmlns:p14="http://schemas.microsoft.com/office/powerpoint/2010/main" val="361594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4"/>
                    </p:tgtEl>
                  </p:cond>
                </p:stCondLst>
                <p:endSync evt="end" delay="0">
                  <p:rtn val="all"/>
                </p:endSync>
                <p:childTnLst>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3" grpId="0" animBg="1"/>
      <p:bldP spid="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810699" y="542637"/>
            <a:ext cx="2570602" cy="2802616"/>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6" name="TextBox 5">
            <a:extLst>
              <a:ext uri="{FF2B5EF4-FFF2-40B4-BE49-F238E27FC236}">
                <a16:creationId xmlns:a16="http://schemas.microsoft.com/office/drawing/2014/main" id="{BB00753D-C189-01CA-44B1-B484F954D600}"/>
              </a:ext>
            </a:extLst>
          </p:cNvPr>
          <p:cNvSpPr txBox="1"/>
          <p:nvPr/>
        </p:nvSpPr>
        <p:spPr>
          <a:xfrm>
            <a:off x="0" y="4552141"/>
            <a:ext cx="12192000" cy="584775"/>
          </a:xfrm>
          <a:prstGeom prst="rect">
            <a:avLst/>
          </a:prstGeom>
          <a:noFill/>
        </p:spPr>
        <p:txBody>
          <a:bodyPr wrap="square">
            <a:spAutoFit/>
          </a:bodyPr>
          <a:lstStyle/>
          <a:p>
            <a:pPr algn="ctr"/>
            <a:r>
              <a:rPr lang="en-GB" sz="3200"/>
              <a:t>Lesson 2 - Retrieval</a:t>
            </a:r>
          </a:p>
        </p:txBody>
      </p:sp>
      <p:sp>
        <p:nvSpPr>
          <p:cNvPr id="8" name="TextBox 7">
            <a:extLst>
              <a:ext uri="{FF2B5EF4-FFF2-40B4-BE49-F238E27FC236}">
                <a16:creationId xmlns:a16="http://schemas.microsoft.com/office/drawing/2014/main" id="{E3C356D1-4D69-6789-D9E9-77C69F82E055}"/>
              </a:ext>
            </a:extLst>
          </p:cNvPr>
          <p:cNvSpPr txBox="1"/>
          <p:nvPr/>
        </p:nvSpPr>
        <p:spPr>
          <a:xfrm>
            <a:off x="4423577" y="5199610"/>
            <a:ext cx="3329758" cy="1446550"/>
          </a:xfrm>
          <a:prstGeom prst="rect">
            <a:avLst/>
          </a:prstGeom>
          <a:noFill/>
        </p:spPr>
        <p:txBody>
          <a:bodyPr wrap="none" rtlCol="0" anchor="ctr">
            <a:spAutoFit/>
          </a:bodyPr>
          <a:lstStyle/>
          <a:p>
            <a:pPr algn="ctr"/>
            <a:r>
              <a:rPr lang="en-GB" sz="8800" dirty="0"/>
              <a:t>Thursday</a:t>
            </a:r>
          </a:p>
        </p:txBody>
      </p:sp>
    </p:spTree>
    <p:extLst>
      <p:ext uri="{BB962C8B-B14F-4D97-AF65-F5344CB8AC3E}">
        <p14:creationId xmlns:p14="http://schemas.microsoft.com/office/powerpoint/2010/main" val="3172617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DFFE-43F9-9789-7910-83BEEE3A3818}"/>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3E87004-6E1A-D1FF-FF85-9A712A9BB7B3}"/>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081EF958-1030-773B-A7D6-6CEB89A8F58A}"/>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CB992496-7EDE-333E-5CB0-3C40245FED5D}"/>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the world around me.</a:t>
            </a:r>
          </a:p>
        </p:txBody>
      </p:sp>
      <p:pic>
        <p:nvPicPr>
          <p:cNvPr id="7" name="Picture 6">
            <a:extLst>
              <a:ext uri="{FF2B5EF4-FFF2-40B4-BE49-F238E27FC236}">
                <a16:creationId xmlns:a16="http://schemas.microsoft.com/office/drawing/2014/main" id="{79FB5223-15E3-4844-7748-101D3E2F6D73}"/>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5594475F-C636-A29B-742C-0F17DB69B1FF}"/>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C934D238-3C31-683C-09D6-F097B09592C0}"/>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We love to read, learn to read and read to learn! </a:t>
            </a:r>
          </a:p>
        </p:txBody>
      </p:sp>
      <p:pic>
        <p:nvPicPr>
          <p:cNvPr id="3" name="Picture 2">
            <a:extLst>
              <a:ext uri="{FF2B5EF4-FFF2-40B4-BE49-F238E27FC236}">
                <a16:creationId xmlns:a16="http://schemas.microsoft.com/office/drawing/2014/main" id="{4C8634C0-C6DD-1B8E-85A5-094729686CE0}"/>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420021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EC2FE-E3EF-97C8-F7DC-C0A25E1D163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AA7E159-E28C-77BB-73A2-F381C7A90837}"/>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91C39609-0D86-A5B7-4D8A-1F527D92392F}"/>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84199F61-4B0B-8E0F-2DB2-ED5EBBDF58E5}"/>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FC3196E5-5551-D86F-2179-6878DD23429F}"/>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BDA4AF79-C1C4-8EFA-F1F6-B418570C55CC}"/>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DB2EAE7E-9AF9-75F2-CFE5-9905D0F16B0E}"/>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p:graphicFrame>
        <p:nvGraphicFramePr>
          <p:cNvPr id="13" name="Table 12">
            <a:extLst>
              <a:ext uri="{FF2B5EF4-FFF2-40B4-BE49-F238E27FC236}">
                <a16:creationId xmlns:a16="http://schemas.microsoft.com/office/drawing/2014/main" id="{9464E341-C007-5632-B326-45797112EDA2}"/>
              </a:ext>
            </a:extLst>
          </p:cNvPr>
          <p:cNvGraphicFramePr>
            <a:graphicFrameLocks noGrp="1"/>
          </p:cNvGraphicFramePr>
          <p:nvPr>
            <p:extLst>
              <p:ext uri="{D42A27DB-BD31-4B8C-83A1-F6EECF244321}">
                <p14:modId xmlns:p14="http://schemas.microsoft.com/office/powerpoint/2010/main" val="3344407260"/>
              </p:ext>
            </p:extLst>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echolocation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1800" b="0" i="0" u="none" strike="noStrike">
                          <a:solidFill>
                            <a:srgbClr val="000000"/>
                          </a:solidFill>
                          <a:effectLst/>
                          <a:latin typeface="Calibri" panose="020F0502020204030204" pitchFamily="34" charset="0"/>
                        </a:rPr>
                        <a:t>finding objects by sending out sounds and listening for the echoes that bounce back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frequency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how many vibrations happen per second; this determines how high or low a sound is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detect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notice or discover something, often using the senses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evolved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changed slowly over a very long time to become better suited to surviving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locate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find where something is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E459C5E2-5BCA-E6D1-3FA2-4EE65FF057B2}"/>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7" name="Rectangle 16">
            <a:extLst>
              <a:ext uri="{FF2B5EF4-FFF2-40B4-BE49-F238E27FC236}">
                <a16:creationId xmlns:a16="http://schemas.microsoft.com/office/drawing/2014/main" id="{8378AAAA-9509-6BC5-9C3F-9C67043451B7}"/>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8" name="Rectangle 17">
            <a:extLst>
              <a:ext uri="{FF2B5EF4-FFF2-40B4-BE49-F238E27FC236}">
                <a16:creationId xmlns:a16="http://schemas.microsoft.com/office/drawing/2014/main" id="{483E4D50-B122-CB47-766E-B5E7AC2451E9}"/>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9" name="Rectangle 18">
            <a:extLst>
              <a:ext uri="{FF2B5EF4-FFF2-40B4-BE49-F238E27FC236}">
                <a16:creationId xmlns:a16="http://schemas.microsoft.com/office/drawing/2014/main" id="{4F499D47-C8D0-1D00-07CE-6BF9DF183DEF}"/>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20" name="Rectangle 19">
            <a:extLst>
              <a:ext uri="{FF2B5EF4-FFF2-40B4-BE49-F238E27FC236}">
                <a16:creationId xmlns:a16="http://schemas.microsoft.com/office/drawing/2014/main" id="{FB71A36C-7A6A-7242-D64C-17151302D893}"/>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Tree>
    <p:extLst>
      <p:ext uri="{BB962C8B-B14F-4D97-AF65-F5344CB8AC3E}">
        <p14:creationId xmlns:p14="http://schemas.microsoft.com/office/powerpoint/2010/main" val="405517483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7"/>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2" restart="whenNotActive" fill="hold" evtFilter="cancelBubble" nodeType="interactiveSeq">
                <p:stCondLst>
                  <p:cond evt="onClick" delay="0">
                    <p:tgtEl>
                      <p:spTgt spid="18"/>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7" restart="whenNotActive" fill="hold" evtFilter="cancelBubble" nodeType="interactiveSeq">
                <p:stCondLst>
                  <p:cond evt="onClick" delay="0">
                    <p:tgtEl>
                      <p:spTgt spid="19"/>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2" restart="whenNotActive" fill="hold" evtFilter="cancelBubble" nodeType="interactiveSeq">
                <p:stCondLst>
                  <p:cond evt="onClick" delay="0">
                    <p:tgtEl>
                      <p:spTgt spid="20"/>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6" grpId="0" animBg="1"/>
      <p:bldP spid="1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D4AD-39BF-E719-97C7-B9FE8F2F1D2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1EC62D8-35F3-692D-E010-0DC4232EB396}"/>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F8888C4F-1616-8D90-191F-5F1D6A12B17C}"/>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A3B5DDCC-932B-F66F-471E-38658DC395B0}"/>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733E3EE1-243D-DB63-04F2-FFCC4E6120EC}"/>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2DCF07E4-FAD7-AFAB-73D7-E54C6A426087}"/>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532B7159-F539-A363-45FE-8B91401BE68F}"/>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1BDE9717-27F4-D48A-5961-BBB082A50FA4}"/>
              </a:ext>
            </a:extLst>
          </p:cNvPr>
          <p:cNvGraphicFramePr>
            <a:graphicFrameLocks noGrp="1"/>
          </p:cNvGraphicFramePr>
          <p:nvPr>
            <p:extLst>
              <p:ext uri="{D42A27DB-BD31-4B8C-83A1-F6EECF244321}">
                <p14:modId xmlns:p14="http://schemas.microsoft.com/office/powerpoint/2010/main" val="394122683"/>
              </p:ext>
            </p:extLst>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sz="3200" b="0">
                        <a:solidFill>
                          <a:schemeClr val="tx1"/>
                        </a:solidFill>
                        <a:latin typeface="Twinkl Cursive Looped Light" panose="02000000000000000000" pitchFamily="2" charset="77"/>
                      </a:endParaRPr>
                    </a:p>
                    <a:p>
                      <a:pPr algn="ctr"/>
                      <a:r>
                        <a:rPr lang="en-GB" sz="3200" b="0">
                          <a:solidFill>
                            <a:schemeClr val="tx1"/>
                          </a:solidFill>
                          <a:latin typeface="Twinkl Cursive Looped Light" panose="02000000000000000000" pitchFamily="2" charset="77"/>
                        </a:rPr>
                        <a:t>detect</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DCA91193-1537-0657-E11E-503EF19A61E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D4A4253D-E3B5-EFA7-4B1C-50AA791A86AA}"/>
              </a:ext>
            </a:extLst>
          </p:cNvPr>
          <p:cNvSpPr txBox="1"/>
          <p:nvPr/>
        </p:nvSpPr>
        <p:spPr>
          <a:xfrm>
            <a:off x="4788984" y="5296822"/>
            <a:ext cx="2400000" cy="480000"/>
          </a:xfrm>
          <a:prstGeom prst="rect">
            <a:avLst/>
          </a:prstGeom>
          <a:noFill/>
        </p:spPr>
        <p:txBody>
          <a:bodyPr wrap="square" rtlCol="0" anchor="ctr"/>
          <a:lstStyle/>
          <a:p>
            <a:pPr algn="ctr"/>
            <a:r>
              <a:rPr lang="en-GB"/>
              <a:t>detect</a:t>
            </a:r>
          </a:p>
        </p:txBody>
      </p:sp>
      <p:cxnSp>
        <p:nvCxnSpPr>
          <p:cNvPr id="12" name="Straight Connector 11">
            <a:extLst>
              <a:ext uri="{FF2B5EF4-FFF2-40B4-BE49-F238E27FC236}">
                <a16:creationId xmlns:a16="http://schemas.microsoft.com/office/drawing/2014/main" id="{7C8845E9-B967-EA4D-1D1A-9AF3DDA85380}"/>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EB3BFB0-1A1A-2A77-4CC9-C8E227413B3E}"/>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EF585B9-9A59-4AD6-3B99-DB66AC0BC1C7}"/>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E2FC65-99A3-B206-BA2E-B45AABD7E835}"/>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F0396BA-9A50-9215-C8CB-0B99470EF9F5}"/>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43437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40D69-2A3E-AC4D-476F-E48DC49AB51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9D004C-6476-A163-CC76-9EB710752DEA}"/>
              </a:ext>
            </a:extLst>
          </p:cNvPr>
          <p:cNvPicPr>
            <a:picLocks noChangeAspect="1"/>
          </p:cNvPicPr>
          <p:nvPr/>
        </p:nvPicPr>
        <p:blipFill>
          <a:blip r:embed="rId3"/>
          <a:stretch>
            <a:fillRect/>
          </a:stretch>
        </p:blipFill>
        <p:spPr>
          <a:xfrm>
            <a:off x="525593" y="1980987"/>
            <a:ext cx="9243932" cy="1349566"/>
          </a:xfrm>
          <a:prstGeom prst="rect">
            <a:avLst/>
          </a:prstGeom>
        </p:spPr>
      </p:pic>
      <p:pic>
        <p:nvPicPr>
          <p:cNvPr id="11" name="Picture 10">
            <a:extLst>
              <a:ext uri="{FF2B5EF4-FFF2-40B4-BE49-F238E27FC236}">
                <a16:creationId xmlns:a16="http://schemas.microsoft.com/office/drawing/2014/main" id="{6B7C83CA-03D0-7626-308E-7CE111534218}"/>
              </a:ext>
            </a:extLst>
          </p:cNvPr>
          <p:cNvPicPr/>
          <p:nvPr/>
        </p:nvPicPr>
        <p:blipFill>
          <a:blip r:embed="rId4">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F0092A21-3382-F255-270E-BE0BDE056D4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1800" b="1">
                <a:effectLst/>
                <a:latin typeface="Sassoon Infant Rg" panose="02000503030000020003" pitchFamily="2" charset="0"/>
                <a:ea typeface="Sassoon Infant Rg" panose="02000503030000020003" pitchFamily="2" charset="0"/>
                <a:cs typeface="Times New Roman" panose="02020603050405020304" pitchFamily="18" charset="0"/>
              </a:rPr>
              <a:t>Paired reading</a:t>
            </a:r>
            <a:r>
              <a:rPr lang="en-GB" sz="1800">
                <a:effectLst/>
                <a:latin typeface="Sassoon Infant Rg" panose="02000503030000020003" pitchFamily="2" charset="0"/>
                <a:ea typeface="Sassoon Infant Rg" panose="02000503030000020003" pitchFamily="2" charset="0"/>
                <a:cs typeface="Times New Roman" panose="02020603050405020304" pitchFamily="18" charset="0"/>
              </a:rPr>
              <a:t>.  </a:t>
            </a:r>
            <a:r>
              <a:rPr lang="en-GB" sz="1800">
                <a:latin typeface="Sassoon Infant Rg" panose="02000503030000020003" pitchFamily="2" charset="0"/>
                <a:ea typeface="Sassoon Infant Rg" panose="02000503030000020003" pitchFamily="2" charset="0"/>
                <a:cs typeface="Times New Roman" panose="02020603050405020304" pitchFamily="18" charset="0"/>
              </a:rPr>
              <a:t>Read the text with a partner, taking turns sentence by sentence. Focus on reading smoothly and clearly, matching your pace to the punctuation.</a:t>
            </a:r>
            <a:endParaRPr lang="en-GB" b="1"/>
          </a:p>
        </p:txBody>
      </p:sp>
      <p:grpSp>
        <p:nvGrpSpPr>
          <p:cNvPr id="7" name="Group 6">
            <a:extLst>
              <a:ext uri="{FF2B5EF4-FFF2-40B4-BE49-F238E27FC236}">
                <a16:creationId xmlns:a16="http://schemas.microsoft.com/office/drawing/2014/main" id="{2F4A7F38-FB96-EA15-05EC-03CFFB5CBE42}"/>
              </a:ext>
            </a:extLst>
          </p:cNvPr>
          <p:cNvGrpSpPr/>
          <p:nvPr/>
        </p:nvGrpSpPr>
        <p:grpSpPr>
          <a:xfrm>
            <a:off x="10349575" y="2457302"/>
            <a:ext cx="1316831" cy="1316831"/>
            <a:chOff x="5180554" y="3075697"/>
            <a:chExt cx="1316831" cy="1316831"/>
          </a:xfrm>
        </p:grpSpPr>
        <p:sp>
          <p:nvSpPr>
            <p:cNvPr id="9" name="Oval 8">
              <a:extLst>
                <a:ext uri="{FF2B5EF4-FFF2-40B4-BE49-F238E27FC236}">
                  <a16:creationId xmlns:a16="http://schemas.microsoft.com/office/drawing/2014/main" id="{230C30F1-14D6-3E62-897A-05259DF04DDD}"/>
                </a:ext>
              </a:extLst>
            </p:cNvPr>
            <p:cNvSpPr/>
            <p:nvPr/>
          </p:nvSpPr>
          <p:spPr>
            <a:xfrm>
              <a:off x="5180554" y="3075697"/>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0" name="Oval 4">
              <a:extLst>
                <a:ext uri="{FF2B5EF4-FFF2-40B4-BE49-F238E27FC236}">
                  <a16:creationId xmlns:a16="http://schemas.microsoft.com/office/drawing/2014/main" id="{94AC7F2E-0C00-B939-4106-51835EB2A269}"/>
                </a:ext>
              </a:extLst>
            </p:cNvPr>
            <p:cNvSpPr txBox="1"/>
            <p:nvPr/>
          </p:nvSpPr>
          <p:spPr>
            <a:xfrm>
              <a:off x="5373399" y="326854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effectLst/>
                  <a:latin typeface="Sassoon Infant Rg" panose="02000503030000020003" pitchFamily="2" charset="0"/>
                  <a:ea typeface="Sassoon Infant Rg" panose="02000503030000020003" pitchFamily="2" charset="0"/>
                </a:rPr>
                <a:t>Fluency &amp; Expression</a:t>
              </a:r>
            </a:p>
          </p:txBody>
        </p:sp>
      </p:grpSp>
      <p:sp>
        <p:nvSpPr>
          <p:cNvPr id="6" name="Rounded Rectangle 5">
            <a:extLst>
              <a:ext uri="{FF2B5EF4-FFF2-40B4-BE49-F238E27FC236}">
                <a16:creationId xmlns:a16="http://schemas.microsoft.com/office/drawing/2014/main" id="{D7466D49-4660-7227-B771-06F3B6102B62}"/>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5" name="TextBox 14">
            <a:extLst>
              <a:ext uri="{FF2B5EF4-FFF2-40B4-BE49-F238E27FC236}">
                <a16:creationId xmlns:a16="http://schemas.microsoft.com/office/drawing/2014/main" id="{DB1CFDC9-8812-2D57-F259-9934E0E81FC7}"/>
              </a:ext>
            </a:extLst>
          </p:cNvPr>
          <p:cNvSpPr txBox="1"/>
          <p:nvPr/>
        </p:nvSpPr>
        <p:spPr>
          <a:xfrm>
            <a:off x="183063" y="1034693"/>
            <a:ext cx="11864557" cy="5093190"/>
          </a:xfrm>
          <a:prstGeom prst="rect">
            <a:avLst/>
          </a:prstGeom>
          <a:solidFill>
            <a:schemeClr val="accent5">
              <a:lumMod val="20000"/>
              <a:lumOff val="80000"/>
            </a:schemeClr>
          </a:solidFill>
          <a:ln>
            <a:noFill/>
          </a:ln>
        </p:spPr>
        <p:txBody>
          <a:bodyPr wrap="square" anchor="ctr">
            <a:normAutofit lnSpcReduction="10000"/>
          </a:bodyPr>
          <a:lstStyle/>
          <a:p>
            <a:r>
              <a:rPr lang="en-GB" sz="2400"/>
              <a:t>Many animals use sound in ways that go far beyond what humans can manage. Bats are one of the most well-known examples. They produce very high-pitched calls — far too high for human ears to detect — and then listen for the echoes that bounce back from nearby objects. This is called echolocation. By judging how quickly the echo returns and which direction it comes from, a bat can build an accurate picture of its surroundings in complete darkness, allowing it to locate and catch insects on the wing. Dolphins use a very similar system underwater, producing clicks and whistles at high frequency and reading the echoes to find fish and navigate through murky water. Elephants communicate using sounds at the opposite end of the scale. Their rumbling calls are so low in frequency that humans cannot hear them at all, but they travel vast distances across the savannah — sometimes several kilometres. Elephants use these low sounds to find mates, warn of danger and keep in touch with family members far away. Dogs can hear sounds at a far higher frequency than humans. A dog whistle produces a sound that is completely silent to human ears but perfectly clear to a dog. This is why a dog will respond to a whistle its owner cannot even hear. Different animals have evolved to detect the exact range of frequencies that is most useful to them.</a:t>
            </a:r>
            <a:endParaRPr lang="en-GB" sz="2400" noProof="0"/>
          </a:p>
        </p:txBody>
      </p:sp>
    </p:spTree>
    <p:extLst>
      <p:ext uri="{BB962C8B-B14F-4D97-AF65-F5344CB8AC3E}">
        <p14:creationId xmlns:p14="http://schemas.microsoft.com/office/powerpoint/2010/main" val="3032229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15" grpId="0" animBg="1"/>
      <p:bldP spid="1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023D4CD-427D-4829-87ED-E2CC3EF8D760}"/>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A35914BD-597C-4EC9-A8CC-64938F558A31}"/>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FE91008D-524B-4E64-AED8-DADBF402F1F1}"/>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3B1F94B5-AE2B-4839-8A01-9D2FC48647A0}"/>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01F4601C-78F0-408A-BFB4-D2C386D5BE41}"/>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0F52BAE7-58D2-4ABA-B083-76155F063DF0}"/>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2308B9F9-02B7-4539-8FBF-46AC5DCEA9AA}"/>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6A1CB78E-9D4B-4986-8879-83568C225091}"/>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CF45870B-7F74-4D54-8596-BFA710ED989D}"/>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EA65950C-D815-47D7-8502-EDD27BCB7185}"/>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9616B4D3-C46F-48F5-8695-1B7F3A82ADA3}"/>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03BB604F-2FA6-4611-A323-4B2AD52B72FE}"/>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198215EB-E5DE-4419-AF3E-61B06E6ECF56}"/>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5002CF86-309B-4BC1-AAB4-D91F81D726FF}"/>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find and extract information from within a text.</a:t>
            </a:r>
          </a:p>
        </p:txBody>
      </p:sp>
      <p:sp>
        <p:nvSpPr>
          <p:cNvPr id="20" name="Rectangle 19">
            <a:extLst>
              <a:ext uri="{FF2B5EF4-FFF2-40B4-BE49-F238E27FC236}">
                <a16:creationId xmlns:a16="http://schemas.microsoft.com/office/drawing/2014/main" id="{06F95318-6BA1-4E64-BFC4-CA399BC0C6E8}"/>
              </a:ext>
            </a:extLst>
          </p:cNvPr>
          <p:cNvSpPr/>
          <p:nvPr/>
        </p:nvSpPr>
        <p:spPr>
          <a:xfrm>
            <a:off x="5597291" y="4824722"/>
            <a:ext cx="5583685" cy="830997"/>
          </a:xfrm>
          <a:prstGeom prst="rect">
            <a:avLst/>
          </a:prstGeom>
          <a:noFill/>
        </p:spPr>
        <p:txBody>
          <a:bodyPr wrap="square">
            <a:spAutoFit/>
          </a:bodyPr>
          <a:lstStyle/>
          <a:p>
            <a:r>
              <a:rPr lang="en-GB" sz="2400">
                <a:latin typeface="+mj-lt"/>
              </a:rPr>
              <a:t>I will show this by answering questions, making reference to the text.</a:t>
            </a:r>
          </a:p>
        </p:txBody>
      </p:sp>
      <p:grpSp>
        <p:nvGrpSpPr>
          <p:cNvPr id="26" name="Group 25">
            <a:extLst>
              <a:ext uri="{FF2B5EF4-FFF2-40B4-BE49-F238E27FC236}">
                <a16:creationId xmlns:a16="http://schemas.microsoft.com/office/drawing/2014/main" id="{2B08C31D-ED97-4B43-811F-A2D5B7EC5D3F}"/>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4A04811F-4042-449A-B9D1-E2A88F2EF32C}"/>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4CFC6DFC-1FF7-406B-91CA-DEF258FBDA0F}"/>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5B068E6C-5697-4CD7-B539-8E733F24A280}"/>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D8ECF509-D074-4A96-BD14-1B7F8C9EF352}"/>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E3884F2F-92E8-4449-B9C6-4BB79443B2D3}"/>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54230F3D-A112-7284-873F-C56C8ED18544}"/>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a clear understanding of what I am reading.</a:t>
            </a:r>
          </a:p>
        </p:txBody>
      </p:sp>
      <p:grpSp>
        <p:nvGrpSpPr>
          <p:cNvPr id="2" name="Group 1">
            <a:extLst>
              <a:ext uri="{FF2B5EF4-FFF2-40B4-BE49-F238E27FC236}">
                <a16:creationId xmlns:a16="http://schemas.microsoft.com/office/drawing/2014/main" id="{63BCCA52-B2F9-1150-2EC2-A8A910DE6CDF}"/>
              </a:ext>
            </a:extLst>
          </p:cNvPr>
          <p:cNvGrpSpPr/>
          <p:nvPr/>
        </p:nvGrpSpPr>
        <p:grpSpPr>
          <a:xfrm>
            <a:off x="10604358" y="118545"/>
            <a:ext cx="1530874" cy="2012378"/>
            <a:chOff x="8657485" y="829505"/>
            <a:chExt cx="1316831" cy="1668805"/>
          </a:xfrm>
        </p:grpSpPr>
        <p:grpSp>
          <p:nvGrpSpPr>
            <p:cNvPr id="24" name="Group 23">
              <a:extLst>
                <a:ext uri="{FF2B5EF4-FFF2-40B4-BE49-F238E27FC236}">
                  <a16:creationId xmlns:a16="http://schemas.microsoft.com/office/drawing/2014/main" id="{9DF1F7D1-5BF2-255E-1221-DF66584F31C4}"/>
                </a:ext>
              </a:extLst>
            </p:cNvPr>
            <p:cNvGrpSpPr/>
            <p:nvPr/>
          </p:nvGrpSpPr>
          <p:grpSpPr>
            <a:xfrm>
              <a:off x="8657485" y="829505"/>
              <a:ext cx="1316831" cy="1316831"/>
              <a:chOff x="3405584" y="4100477"/>
              <a:chExt cx="1316831" cy="1316831"/>
            </a:xfrm>
          </p:grpSpPr>
          <p:sp>
            <p:nvSpPr>
              <p:cNvPr id="31" name="Oval 30">
                <a:extLst>
                  <a:ext uri="{FF2B5EF4-FFF2-40B4-BE49-F238E27FC236}">
                    <a16:creationId xmlns:a16="http://schemas.microsoft.com/office/drawing/2014/main" id="{36527B03-E8B0-B308-5625-5D60701BABC9}"/>
                  </a:ext>
                </a:extLst>
              </p:cNvPr>
              <p:cNvSpPr/>
              <p:nvPr/>
            </p:nvSpPr>
            <p:spPr>
              <a:xfrm>
                <a:off x="3405584" y="4100477"/>
                <a:ext cx="1316831" cy="1316831"/>
              </a:xfrm>
              <a:prstGeom prst="ellipse">
                <a:avLst/>
              </a:prstGeom>
              <a:solidFill>
                <a:srgbClr val="FFD5EE"/>
              </a:solidFill>
              <a:ln w="38100">
                <a:solidFill>
                  <a:srgbClr val="CD007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2" name="Oval 4">
                <a:extLst>
                  <a:ext uri="{FF2B5EF4-FFF2-40B4-BE49-F238E27FC236}">
                    <a16:creationId xmlns:a16="http://schemas.microsoft.com/office/drawing/2014/main" id="{311692BE-7960-B1C4-FAA2-65AA32C03A40}"/>
                  </a:ext>
                </a:extLst>
              </p:cNvPr>
              <p:cNvSpPr txBox="1"/>
              <p:nvPr/>
            </p:nvSpPr>
            <p:spPr>
              <a:xfrm>
                <a:off x="3598429" y="429332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a:solidFill>
                      <a:srgbClr val="CD007A"/>
                    </a:solidFill>
                    <a:latin typeface="Sassoon Infant Rg" panose="02000503030000020003" pitchFamily="2" charset="0"/>
                    <a:ea typeface="Sassoon Infant Rg" panose="02000503030000020003" pitchFamily="2" charset="0"/>
                  </a:rPr>
                  <a:t>Discuss &amp; explain thinking &amp; understanding</a:t>
                </a:r>
              </a:p>
            </p:txBody>
          </p:sp>
        </p:grpSp>
        <p:sp>
          <p:nvSpPr>
            <p:cNvPr id="25" name="TextBox 24">
              <a:extLst>
                <a:ext uri="{FF2B5EF4-FFF2-40B4-BE49-F238E27FC236}">
                  <a16:creationId xmlns:a16="http://schemas.microsoft.com/office/drawing/2014/main" id="{0E3DBC74-DEF3-15BE-F488-6929DEE9B83C}"/>
                </a:ext>
              </a:extLst>
            </p:cNvPr>
            <p:cNvSpPr txBox="1"/>
            <p:nvPr/>
          </p:nvSpPr>
          <p:spPr>
            <a:xfrm>
              <a:off x="8826392" y="2243080"/>
              <a:ext cx="979015" cy="255230"/>
            </a:xfrm>
            <a:prstGeom prst="rect">
              <a:avLst/>
            </a:prstGeom>
            <a:noFill/>
          </p:spPr>
          <p:txBody>
            <a:bodyPr wrap="square" rtlCol="0">
              <a:spAutoFit/>
            </a:bodyPr>
            <a:lstStyle/>
            <a:p>
              <a:pPr algn="ctr"/>
              <a:r>
                <a:rPr lang="en-GB" sz="1400" b="1">
                  <a:solidFill>
                    <a:srgbClr val="CD007A"/>
                  </a:solidFill>
                </a:rPr>
                <a:t>retrieve</a:t>
              </a:r>
            </a:p>
          </p:txBody>
        </p:sp>
      </p:grpSp>
    </p:spTree>
    <p:extLst>
      <p:ext uri="{BB962C8B-B14F-4D97-AF65-F5344CB8AC3E}">
        <p14:creationId xmlns:p14="http://schemas.microsoft.com/office/powerpoint/2010/main" val="1917154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DB52-DA63-044E-52E1-B8873C55D6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83BB0C-F58E-DA56-564A-0BADE2422FC9}"/>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2" name="TextBox 1">
            <a:extLst>
              <a:ext uri="{FF2B5EF4-FFF2-40B4-BE49-F238E27FC236}">
                <a16:creationId xmlns:a16="http://schemas.microsoft.com/office/drawing/2014/main" id="{640BB64A-1496-7976-37EB-DCEEC8FBF17F}"/>
              </a:ext>
            </a:extLst>
          </p:cNvPr>
          <p:cNvSpPr txBox="1"/>
          <p:nvPr/>
        </p:nvSpPr>
        <p:spPr>
          <a:xfrm>
            <a:off x="378830" y="1843059"/>
            <a:ext cx="11713854" cy="3429144"/>
          </a:xfrm>
          <a:prstGeom prst="rect">
            <a:avLst/>
          </a:prstGeom>
          <a:noFill/>
        </p:spPr>
        <p:txBody>
          <a:bodyPr wrap="square" rtlCol="0">
            <a:spAutoFit/>
          </a:bodyPr>
          <a:lstStyle/>
          <a:p>
            <a:pPr lvl="1">
              <a:spcAft>
                <a:spcPts val="500"/>
              </a:spcAft>
            </a:pPr>
            <a:r>
              <a:rPr lang="en-GB" sz="2200"/>
              <a:t>How does echolocation allow a bat to hunt in complete darkness?</a:t>
            </a:r>
          </a:p>
          <a:p>
            <a:pPr lvl="1">
              <a:spcAft>
                <a:spcPts val="500"/>
              </a:spcAft>
            </a:pPr>
            <a:r>
              <a:rPr lang="en-GB" sz="2200"/>
              <a:t>The bat sends out a high-pitched call. The sound bounces off the insect and the echo returns. By judging the direction and speed of the echo, the bat can locate the insect without any light.</a:t>
            </a:r>
          </a:p>
          <a:p>
            <a:pPr lvl="1">
              <a:spcAft>
                <a:spcPts val="500"/>
              </a:spcAft>
            </a:pPr>
            <a:endParaRPr lang="en-GB" sz="2200"/>
          </a:p>
          <a:p>
            <a:pPr lvl="1">
              <a:spcAft>
                <a:spcPts val="500"/>
              </a:spcAft>
            </a:pPr>
            <a:r>
              <a:rPr lang="en-GB" sz="2200"/>
              <a:t>Why do elephants and bats use such different frequencies of sound? Use evidence from the text.</a:t>
            </a:r>
          </a:p>
          <a:p>
            <a:pPr lvl="1">
              <a:spcAft>
                <a:spcPts val="500"/>
              </a:spcAft>
            </a:pPr>
            <a:r>
              <a:rPr lang="en-GB" sz="2200"/>
              <a:t>Elephants use very low-frequency sounds because they need to communicate over vast distances. Bats need to detect nearby objects precisely in the dark, so high-frequency sounds that bounce off close objects work best.</a:t>
            </a:r>
          </a:p>
          <a:p>
            <a:pPr lvl="1">
              <a:spcAft>
                <a:spcPts val="500"/>
              </a:spcAft>
            </a:pPr>
            <a:endParaRPr lang="en-GB" sz="2200"/>
          </a:p>
        </p:txBody>
      </p:sp>
      <p:sp>
        <p:nvSpPr>
          <p:cNvPr id="6" name="TextBox 5">
            <a:extLst>
              <a:ext uri="{FF2B5EF4-FFF2-40B4-BE49-F238E27FC236}">
                <a16:creationId xmlns:a16="http://schemas.microsoft.com/office/drawing/2014/main" id="{5BDAB0E7-50E0-A284-5814-9D1241C67513}"/>
              </a:ext>
            </a:extLst>
          </p:cNvPr>
          <p:cNvSpPr txBox="1"/>
          <p:nvPr/>
        </p:nvSpPr>
        <p:spPr>
          <a:xfrm>
            <a:off x="288098" y="335454"/>
            <a:ext cx="6329618" cy="707886"/>
          </a:xfrm>
          <a:prstGeom prst="rect">
            <a:avLst/>
          </a:prstGeom>
          <a:noFill/>
        </p:spPr>
        <p:txBody>
          <a:bodyPr wrap="none" rtlCol="0">
            <a:spAutoFit/>
          </a:bodyPr>
          <a:lstStyle/>
          <a:p>
            <a:r>
              <a:rPr lang="en-GB" sz="4000" b="1" u="sng"/>
              <a:t>Practice questions - Retrieval</a:t>
            </a:r>
          </a:p>
        </p:txBody>
      </p:sp>
      <p:sp>
        <p:nvSpPr>
          <p:cNvPr id="3" name="TextBox 2">
            <a:extLst>
              <a:ext uri="{FF2B5EF4-FFF2-40B4-BE49-F238E27FC236}">
                <a16:creationId xmlns:a16="http://schemas.microsoft.com/office/drawing/2014/main" id="{68036728-B080-EA83-ECF1-479482CB4A6C}"/>
              </a:ext>
            </a:extLst>
          </p:cNvPr>
          <p:cNvSpPr txBox="1"/>
          <p:nvPr/>
        </p:nvSpPr>
        <p:spPr>
          <a:xfrm>
            <a:off x="288098" y="937015"/>
            <a:ext cx="10156370" cy="369332"/>
          </a:xfrm>
          <a:prstGeom prst="rect">
            <a:avLst/>
          </a:prstGeom>
          <a:noFill/>
        </p:spPr>
        <p:txBody>
          <a:bodyPr wrap="none" rtlCol="0">
            <a:spAutoFit/>
          </a:bodyPr>
          <a:lstStyle/>
          <a:p>
            <a:r>
              <a:rPr lang="en-GB"/>
              <a:t>Scanning the text – I am trying to find the parts in the text where I will retrieve the answer to the question.</a:t>
            </a:r>
          </a:p>
        </p:txBody>
      </p:sp>
      <p:sp>
        <p:nvSpPr>
          <p:cNvPr id="7" name="TextBox 6">
            <a:extLst>
              <a:ext uri="{FF2B5EF4-FFF2-40B4-BE49-F238E27FC236}">
                <a16:creationId xmlns:a16="http://schemas.microsoft.com/office/drawing/2014/main" id="{62ABBBA0-AF7C-8A47-0810-0E93014D5573}"/>
              </a:ext>
            </a:extLst>
          </p:cNvPr>
          <p:cNvSpPr txBox="1"/>
          <p:nvPr/>
        </p:nvSpPr>
        <p:spPr>
          <a:xfrm>
            <a:off x="739293" y="5447777"/>
            <a:ext cx="10292816" cy="830997"/>
          </a:xfrm>
          <a:prstGeom prst="rect">
            <a:avLst/>
          </a:prstGeom>
          <a:noFill/>
        </p:spPr>
        <p:txBody>
          <a:bodyPr wrap="square" rtlCol="0">
            <a:spAutoFit/>
          </a:bodyPr>
          <a:lstStyle/>
          <a:p>
            <a:r>
              <a:rPr lang="en-GB" sz="2400"/>
              <a:t>Checking my answers – does my answer match the question and use information from the text?</a:t>
            </a:r>
          </a:p>
        </p:txBody>
      </p:sp>
      <p:sp>
        <p:nvSpPr>
          <p:cNvPr id="9" name="TextBox 8">
            <a:extLst>
              <a:ext uri="{FF2B5EF4-FFF2-40B4-BE49-F238E27FC236}">
                <a16:creationId xmlns:a16="http://schemas.microsoft.com/office/drawing/2014/main" id="{C39F0976-7660-64BA-E055-E6E60B65E8BB}"/>
              </a:ext>
            </a:extLst>
          </p:cNvPr>
          <p:cNvSpPr txBox="1"/>
          <p:nvPr/>
        </p:nvSpPr>
        <p:spPr>
          <a:xfrm>
            <a:off x="378830" y="1512948"/>
            <a:ext cx="11434340" cy="3853893"/>
          </a:xfrm>
          <a:prstGeom prst="rect">
            <a:avLst/>
          </a:prstGeom>
          <a:solidFill>
            <a:schemeClr val="accent5">
              <a:lumMod val="20000"/>
              <a:lumOff val="80000"/>
            </a:schemeClr>
          </a:solidFill>
        </p:spPr>
        <p:txBody>
          <a:bodyPr wrap="square" anchor="ctr">
            <a:normAutofit fontScale="92500" lnSpcReduction="10000"/>
          </a:bodyPr>
          <a:lstStyle/>
          <a:p>
            <a:r>
              <a:rPr lang="en-GB" sz="2200"/>
              <a:t>Many animals use sound in ways that go far beyond what humans can manage. Bats are one of the most well-known examples. They produce very high-pitched calls — far too high for human ears to detect — and then listen for the echoes that bounce back from nearby objects. This is called echolocation. By judging how quickly the echo returns and which direction it comes from, a bat can build an accurate picture of its surroundings in complete darkness, allowing it to locate and catch insects on the wing. Dolphins use a very similar system underwater, producing clicks and whistles at high frequency and reading the echoes to find fish and navigate through murky water. Elephants communicate using sounds at the opposite end of the scale. Their rumbling calls are so low in frequency that humans cannot hear them at all, but they travel vast distances across the savannah — sometimes several kilometres. Elephants use these low sounds to find mates, warn of danger and keep in touch with family members far away. Dogs can hear sounds at a far higher frequency than humans. A dog whistle produces a sound that is completely silent to human ears but perfectly clear to a dog. This is why a dog will respond to a whistle its owner cannot even hear. Different animals have evolved to detect the exact range of frequencies that is most useful to them.</a:t>
            </a:r>
          </a:p>
        </p:txBody>
      </p:sp>
      <p:sp>
        <p:nvSpPr>
          <p:cNvPr id="8" name="Rounded Rectangle 7">
            <a:extLst>
              <a:ext uri="{FF2B5EF4-FFF2-40B4-BE49-F238E27FC236}">
                <a16:creationId xmlns:a16="http://schemas.microsoft.com/office/drawing/2014/main" id="{1F9C4591-5FD6-13A6-965E-8E77A5CE3342}"/>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pic>
        <p:nvPicPr>
          <p:cNvPr id="4" name="Picture 3">
            <a:extLst>
              <a:ext uri="{FF2B5EF4-FFF2-40B4-BE49-F238E27FC236}">
                <a16:creationId xmlns:a16="http://schemas.microsoft.com/office/drawing/2014/main" id="{98C313D4-3635-57FE-CBB6-13AFE64BC9F7}"/>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Tree>
    <p:extLst>
      <p:ext uri="{BB962C8B-B14F-4D97-AF65-F5344CB8AC3E}">
        <p14:creationId xmlns:p14="http://schemas.microsoft.com/office/powerpoint/2010/main" val="412702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8"/>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7" grpId="0"/>
      <p:bldP spid="9" grpId="0" animBg="1"/>
      <p:bldP spid="9"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E999-0767-E1BF-F055-C68708657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A8A54-C52C-2D88-ED84-F94624CD25CE}"/>
              </a:ext>
            </a:extLst>
          </p:cNvPr>
          <p:cNvSpPr>
            <a:spLocks noGrp="1"/>
          </p:cNvSpPr>
          <p:nvPr>
            <p:ph type="ctrTitle"/>
          </p:nvPr>
        </p:nvSpPr>
        <p:spPr>
          <a:xfrm>
            <a:off x="0" y="2017477"/>
            <a:ext cx="12192000" cy="2387600"/>
          </a:xfrm>
        </p:spPr>
        <p:txBody>
          <a:bodyPr/>
          <a:lstStyle/>
          <a:p>
            <a:r>
              <a:rPr lang="en-GB">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8A07BED7-A129-128F-5D6A-D4C8413660C5}"/>
              </a:ext>
            </a:extLst>
          </p:cNvPr>
          <p:cNvGrpSpPr/>
          <p:nvPr/>
        </p:nvGrpSpPr>
        <p:grpSpPr>
          <a:xfrm>
            <a:off x="4869455" y="528169"/>
            <a:ext cx="2453090" cy="2661750"/>
            <a:chOff x="7629233" y="677174"/>
            <a:chExt cx="2090136" cy="2455590"/>
          </a:xfrm>
        </p:grpSpPr>
        <p:pic>
          <p:nvPicPr>
            <p:cNvPr id="5" name="Picture 8" descr="Reading Icon 2954745">
              <a:extLst>
                <a:ext uri="{FF2B5EF4-FFF2-40B4-BE49-F238E27FC236}">
                  <a16:creationId xmlns:a16="http://schemas.microsoft.com/office/drawing/2014/main" id="{EB072FCD-CD3C-4AD5-04A7-08D7997F5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EFC4ADB-6B9C-B3AE-0DF3-351FA8655EC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6" name="TextBox 5">
            <a:extLst>
              <a:ext uri="{FF2B5EF4-FFF2-40B4-BE49-F238E27FC236}">
                <a16:creationId xmlns:a16="http://schemas.microsoft.com/office/drawing/2014/main" id="{B697F374-31F8-746D-7FEF-CAF59D1FE534}"/>
              </a:ext>
            </a:extLst>
          </p:cNvPr>
          <p:cNvSpPr txBox="1"/>
          <p:nvPr/>
        </p:nvSpPr>
        <p:spPr>
          <a:xfrm>
            <a:off x="0" y="4552141"/>
            <a:ext cx="12192000" cy="584775"/>
          </a:xfrm>
          <a:prstGeom prst="rect">
            <a:avLst/>
          </a:prstGeom>
          <a:noFill/>
        </p:spPr>
        <p:txBody>
          <a:bodyPr wrap="square">
            <a:spAutoFit/>
          </a:bodyPr>
          <a:lstStyle/>
          <a:p>
            <a:pPr algn="ctr"/>
            <a:r>
              <a:rPr lang="en-GB" sz="3200"/>
              <a:t>Lesson 3 - Inference</a:t>
            </a:r>
          </a:p>
        </p:txBody>
      </p:sp>
      <p:sp>
        <p:nvSpPr>
          <p:cNvPr id="3" name="TextBox 2">
            <a:extLst>
              <a:ext uri="{FF2B5EF4-FFF2-40B4-BE49-F238E27FC236}">
                <a16:creationId xmlns:a16="http://schemas.microsoft.com/office/drawing/2014/main" id="{B9294B43-D0F7-499A-C696-E649B65C8119}"/>
              </a:ext>
            </a:extLst>
          </p:cNvPr>
          <p:cNvSpPr txBox="1"/>
          <p:nvPr/>
        </p:nvSpPr>
        <p:spPr>
          <a:xfrm>
            <a:off x="4576443" y="5199615"/>
            <a:ext cx="3024033" cy="1446550"/>
          </a:xfrm>
          <a:prstGeom prst="rect">
            <a:avLst/>
          </a:prstGeom>
          <a:noFill/>
        </p:spPr>
        <p:txBody>
          <a:bodyPr wrap="none" rtlCol="0" anchor="ctr">
            <a:spAutoFit/>
          </a:bodyPr>
          <a:lstStyle/>
          <a:p>
            <a:pPr algn="ctr"/>
            <a:r>
              <a:rPr lang="en-GB" sz="8800" dirty="0"/>
              <a:t>Friday</a:t>
            </a:r>
          </a:p>
        </p:txBody>
      </p:sp>
    </p:spTree>
    <p:extLst>
      <p:ext uri="{BB962C8B-B14F-4D97-AF65-F5344CB8AC3E}">
        <p14:creationId xmlns:p14="http://schemas.microsoft.com/office/powerpoint/2010/main" val="907886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91C3F-38F6-DBBF-4F88-BC79E0F25137}"/>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A876D631-3626-D85B-BD2A-62FBEFC374F3}"/>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187EA5B-373E-E910-C302-D43749DA5A57}"/>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50B71758-0482-C69B-012B-E1402F4305E0}"/>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the world around me.</a:t>
            </a:r>
          </a:p>
        </p:txBody>
      </p:sp>
      <p:pic>
        <p:nvPicPr>
          <p:cNvPr id="7" name="Picture 6">
            <a:extLst>
              <a:ext uri="{FF2B5EF4-FFF2-40B4-BE49-F238E27FC236}">
                <a16:creationId xmlns:a16="http://schemas.microsoft.com/office/drawing/2014/main" id="{F79518C5-426B-C642-35E0-25A891B18C8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10E12FF6-C111-6E01-E183-AD15E5DBCDAB}"/>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E94B2093-8796-7CA1-A9DD-691F184AA106}"/>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We love to read, learn to read and read to learn! </a:t>
            </a:r>
          </a:p>
        </p:txBody>
      </p:sp>
      <p:pic>
        <p:nvPicPr>
          <p:cNvPr id="3" name="Picture 2">
            <a:extLst>
              <a:ext uri="{FF2B5EF4-FFF2-40B4-BE49-F238E27FC236}">
                <a16:creationId xmlns:a16="http://schemas.microsoft.com/office/drawing/2014/main" id="{DE2C933F-5037-D0C5-B705-D0265BFA8D13}"/>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314966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FFEC5-ED54-715A-E63D-FA2D2DE035A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80DC167-F166-68C8-7588-06130887D273}"/>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A4D77EA6-50E4-D17B-73ED-7BE91E3F307D}"/>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30956C7E-55F6-DB85-2985-01AB2E80F484}"/>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455C7312-4754-47E9-73BD-4A52FB013EF5}"/>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2D6F40E8-1930-569A-C770-C9995701CF65}"/>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D758BE08-D0FB-169F-8325-909F4336B3B2}"/>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p:graphicFrame>
        <p:nvGraphicFramePr>
          <p:cNvPr id="11" name="Table 10">
            <a:extLst>
              <a:ext uri="{FF2B5EF4-FFF2-40B4-BE49-F238E27FC236}">
                <a16:creationId xmlns:a16="http://schemas.microsoft.com/office/drawing/2014/main" id="{C601A826-BD62-AC1A-EDD6-3360BAF9C04B}"/>
              </a:ext>
            </a:extLst>
          </p:cNvPr>
          <p:cNvGraphicFramePr>
            <a:graphicFrameLocks noGrp="1"/>
          </p:cNvGraphicFramePr>
          <p:nvPr>
            <p:extLst>
              <p:ext uri="{D42A27DB-BD31-4B8C-83A1-F6EECF244321}">
                <p14:modId xmlns:p14="http://schemas.microsoft.com/office/powerpoint/2010/main" val="1086555191"/>
              </p:ext>
            </p:extLst>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ultrasound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sound at a frequency too high for humans to hear, used in medicine and technology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sonar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 system that uses sound echoes to detect objects underwater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navigate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find your way from one place to another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technology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the use of scientific knowledge to create tools and systems that solve problems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diagnose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identify what is wrong with someone or something by examining it carefully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3" name="Rectangle 12">
            <a:extLst>
              <a:ext uri="{FF2B5EF4-FFF2-40B4-BE49-F238E27FC236}">
                <a16:creationId xmlns:a16="http://schemas.microsoft.com/office/drawing/2014/main" id="{EC4FB307-4D4F-8B0B-9595-2908D792B147}"/>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a:t>?</a:t>
            </a:r>
          </a:p>
        </p:txBody>
      </p:sp>
      <p:sp>
        <p:nvSpPr>
          <p:cNvPr id="16" name="Rectangle 15">
            <a:extLst>
              <a:ext uri="{FF2B5EF4-FFF2-40B4-BE49-F238E27FC236}">
                <a16:creationId xmlns:a16="http://schemas.microsoft.com/office/drawing/2014/main" id="{A48F715A-EA22-0075-DCE2-93E2FF4EBB51}"/>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a:t>?</a:t>
            </a:r>
          </a:p>
        </p:txBody>
      </p:sp>
      <p:sp>
        <p:nvSpPr>
          <p:cNvPr id="17" name="Rectangle 16">
            <a:extLst>
              <a:ext uri="{FF2B5EF4-FFF2-40B4-BE49-F238E27FC236}">
                <a16:creationId xmlns:a16="http://schemas.microsoft.com/office/drawing/2014/main" id="{356D0440-F082-80C6-731B-8C311CBDF657}"/>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a:t>?</a:t>
            </a:r>
          </a:p>
        </p:txBody>
      </p:sp>
      <p:sp>
        <p:nvSpPr>
          <p:cNvPr id="18" name="Rectangle 17">
            <a:extLst>
              <a:ext uri="{FF2B5EF4-FFF2-40B4-BE49-F238E27FC236}">
                <a16:creationId xmlns:a16="http://schemas.microsoft.com/office/drawing/2014/main" id="{1AF91A14-B039-BB6E-41FD-1179B7B626E7}"/>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a:t>?</a:t>
            </a:r>
          </a:p>
        </p:txBody>
      </p:sp>
      <p:sp>
        <p:nvSpPr>
          <p:cNvPr id="19" name="Rectangle 18">
            <a:extLst>
              <a:ext uri="{FF2B5EF4-FFF2-40B4-BE49-F238E27FC236}">
                <a16:creationId xmlns:a16="http://schemas.microsoft.com/office/drawing/2014/main" id="{9D9C7A08-1256-16C2-6D74-65AB7B391329}"/>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a:t>?</a:t>
            </a:r>
          </a:p>
        </p:txBody>
      </p:sp>
    </p:spTree>
    <p:extLst>
      <p:ext uri="{BB962C8B-B14F-4D97-AF65-F5344CB8AC3E}">
        <p14:creationId xmlns:p14="http://schemas.microsoft.com/office/powerpoint/2010/main" val="28611642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2" restart="whenNotActive" fill="hold" evtFilter="cancelBubble" nodeType="interactiveSeq">
                <p:stCondLst>
                  <p:cond evt="onClick" delay="0">
                    <p:tgtEl>
                      <p:spTgt spid="1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3" grpId="0" animBg="1"/>
      <p:bldP spid="16"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1C37-CAE3-686D-8987-519EF0B821E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E12D449-E0B8-218A-66E4-607B82D7E4CC}"/>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850E4B37-65D9-0076-A6C7-26A0E88907D1}"/>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B83489DD-992A-B2F1-7C24-14A0233BCAC4}"/>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10E7AAFF-73C4-E194-EC99-0310209A8583}"/>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A285E3AC-C519-8232-43B0-BC594DDDE893}"/>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45D0D195-A4D1-B31C-F122-C74EB965A6D9}"/>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4E32C6E5-3197-E8F2-584C-A51B20B1E72E}"/>
              </a:ext>
            </a:extLst>
          </p:cNvPr>
          <p:cNvGraphicFramePr>
            <a:graphicFrameLocks noGrp="1"/>
          </p:cNvGraphicFramePr>
          <p:nvPr>
            <p:extLst>
              <p:ext uri="{D42A27DB-BD31-4B8C-83A1-F6EECF244321}">
                <p14:modId xmlns:p14="http://schemas.microsoft.com/office/powerpoint/2010/main" val="1702000766"/>
              </p:ext>
            </p:extLst>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sz="3200" b="0">
                        <a:solidFill>
                          <a:schemeClr val="tx1"/>
                        </a:solidFill>
                        <a:latin typeface="Twinkl Cursive Looped Light" panose="02000000000000000000" pitchFamily="2" charset="77"/>
                      </a:endParaRPr>
                    </a:p>
                    <a:p>
                      <a:pPr algn="ctr"/>
                      <a:r>
                        <a:rPr lang="en-GB" sz="4000" b="0">
                          <a:solidFill>
                            <a:schemeClr val="tx1"/>
                          </a:solidFill>
                          <a:latin typeface="Twinkl Cursive Looped Light" panose="02000000000000000000" pitchFamily="2" charset="77"/>
                        </a:rPr>
                        <a:t>technology</a:t>
                      </a:r>
                      <a:endParaRPr lang="en-GB" sz="3200" b="0">
                        <a:solidFill>
                          <a:schemeClr val="tx1"/>
                        </a:solidFill>
                        <a:latin typeface="Twinkl Cursive Looped Light" panose="02000000000000000000" pitchFamily="2" charset="77"/>
                      </a:endParaRP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B4841AA1-3064-E979-2DFD-FE67A5E35C7A}"/>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F8539851-5BF7-DACE-7646-5C1F4848A6C2}"/>
              </a:ext>
            </a:extLst>
          </p:cNvPr>
          <p:cNvSpPr txBox="1"/>
          <p:nvPr/>
        </p:nvSpPr>
        <p:spPr>
          <a:xfrm>
            <a:off x="4804028" y="5296822"/>
            <a:ext cx="2400000" cy="480000"/>
          </a:xfrm>
          <a:prstGeom prst="rect">
            <a:avLst/>
          </a:prstGeom>
          <a:noFill/>
        </p:spPr>
        <p:txBody>
          <a:bodyPr wrap="square" rtlCol="0" anchor="ctr"/>
          <a:lstStyle/>
          <a:p>
            <a:pPr algn="ctr"/>
            <a:r>
              <a:rPr lang="en-GB"/>
              <a:t>technology</a:t>
            </a:r>
          </a:p>
        </p:txBody>
      </p:sp>
      <p:cxnSp>
        <p:nvCxnSpPr>
          <p:cNvPr id="12" name="Straight Connector 11">
            <a:extLst>
              <a:ext uri="{FF2B5EF4-FFF2-40B4-BE49-F238E27FC236}">
                <a16:creationId xmlns:a16="http://schemas.microsoft.com/office/drawing/2014/main" id="{56DD2154-B533-A6CA-CF70-8B3007C8F9B4}"/>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36C0086-A8F5-32A0-0EA3-CFFE88C1D925}"/>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ACC822D-2DD4-E24E-B5E2-E37336A0DC45}"/>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AF23FF4-85C4-AE32-537A-6C766A00126E}"/>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22091D1A-96DB-EC74-4220-91B4E72FC4AE}"/>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1288779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FA767-B0DB-0A21-D073-D552DA393E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7FE275-0ADC-6A1D-84A6-B7309C8CBFC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93758" y="1731460"/>
            <a:ext cx="10507751" cy="1805411"/>
          </a:xfrm>
          <a:prstGeom prst="rect">
            <a:avLst/>
          </a:prstGeom>
        </p:spPr>
      </p:pic>
      <p:pic>
        <p:nvPicPr>
          <p:cNvPr id="11" name="Picture 10">
            <a:extLst>
              <a:ext uri="{FF2B5EF4-FFF2-40B4-BE49-F238E27FC236}">
                <a16:creationId xmlns:a16="http://schemas.microsoft.com/office/drawing/2014/main" id="{A3F2F5A3-4700-D7F2-0651-22D4F2CF04AB}"/>
              </a:ext>
            </a:extLst>
          </p:cNvPr>
          <p:cNvPicPr/>
          <p:nvPr/>
        </p:nvPicPr>
        <p:blipFill>
          <a:blip r:embed="rId4">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582290AF-0123-73B7-C618-2C305FBC5E18}"/>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Independent Read</a:t>
            </a:r>
          </a:p>
        </p:txBody>
      </p:sp>
      <p:sp>
        <p:nvSpPr>
          <p:cNvPr id="22" name="TextBox 21">
            <a:extLst>
              <a:ext uri="{FF2B5EF4-FFF2-40B4-BE49-F238E27FC236}">
                <a16:creationId xmlns:a16="http://schemas.microsoft.com/office/drawing/2014/main" id="{723A8A9C-E0FA-406F-CC09-924141A9ADD7}"/>
              </a:ext>
            </a:extLst>
          </p:cNvPr>
          <p:cNvSpPr txBox="1"/>
          <p:nvPr/>
        </p:nvSpPr>
        <p:spPr>
          <a:xfrm>
            <a:off x="1" y="911003"/>
            <a:ext cx="12191999" cy="461665"/>
          </a:xfrm>
          <a:prstGeom prst="rect">
            <a:avLst/>
          </a:prstGeom>
          <a:noFill/>
        </p:spPr>
        <p:txBody>
          <a:bodyPr wrap="square">
            <a:spAutoFit/>
          </a:bodyPr>
          <a:lstStyle/>
          <a:p>
            <a:pPr algn="ctr"/>
            <a:r>
              <a:rPr lang="en-GB" sz="1200">
                <a:effectLst/>
                <a:latin typeface="Sassoon Infant Rg" panose="02000503030000020003" pitchFamily="2" charset="0"/>
                <a:ea typeface="Sassoon Infant Rg" panose="02000503030000020003" pitchFamily="2" charset="0"/>
                <a:cs typeface="Times New Roman" panose="02020603050405020304" pitchFamily="18" charset="0"/>
              </a:rPr>
              <a:t>Fluency focus – Echo read</a:t>
            </a:r>
            <a:endParaRPr lang="en-GB" b="1"/>
          </a:p>
        </p:txBody>
      </p:sp>
      <p:grpSp>
        <p:nvGrpSpPr>
          <p:cNvPr id="7" name="Group 6">
            <a:extLst>
              <a:ext uri="{FF2B5EF4-FFF2-40B4-BE49-F238E27FC236}">
                <a16:creationId xmlns:a16="http://schemas.microsoft.com/office/drawing/2014/main" id="{DCE4C1E7-4401-9F7D-256B-C3F5AFDB569D}"/>
              </a:ext>
            </a:extLst>
          </p:cNvPr>
          <p:cNvGrpSpPr/>
          <p:nvPr/>
        </p:nvGrpSpPr>
        <p:grpSpPr>
          <a:xfrm>
            <a:off x="164733" y="55837"/>
            <a:ext cx="1316831" cy="1316831"/>
            <a:chOff x="5180554" y="3075697"/>
            <a:chExt cx="1316831" cy="1316831"/>
          </a:xfrm>
        </p:grpSpPr>
        <p:sp>
          <p:nvSpPr>
            <p:cNvPr id="9" name="Oval 8">
              <a:extLst>
                <a:ext uri="{FF2B5EF4-FFF2-40B4-BE49-F238E27FC236}">
                  <a16:creationId xmlns:a16="http://schemas.microsoft.com/office/drawing/2014/main" id="{AC49C8DA-0A4B-857F-9B72-2FC1A68669B5}"/>
                </a:ext>
              </a:extLst>
            </p:cNvPr>
            <p:cNvSpPr/>
            <p:nvPr/>
          </p:nvSpPr>
          <p:spPr>
            <a:xfrm>
              <a:off x="5180554" y="3075697"/>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0" name="Oval 4">
              <a:extLst>
                <a:ext uri="{FF2B5EF4-FFF2-40B4-BE49-F238E27FC236}">
                  <a16:creationId xmlns:a16="http://schemas.microsoft.com/office/drawing/2014/main" id="{C8A44D62-B5A0-52B2-3AEE-AB72AB6C5171}"/>
                </a:ext>
              </a:extLst>
            </p:cNvPr>
            <p:cNvSpPr txBox="1"/>
            <p:nvPr/>
          </p:nvSpPr>
          <p:spPr>
            <a:xfrm>
              <a:off x="5373399" y="326854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effectLst/>
                  <a:latin typeface="Sassoon Infant Rg" panose="02000503030000020003" pitchFamily="2" charset="0"/>
                  <a:ea typeface="Sassoon Infant Rg" panose="02000503030000020003" pitchFamily="2" charset="0"/>
                </a:rPr>
                <a:t>Fluency &amp; Expression</a:t>
              </a:r>
            </a:p>
          </p:txBody>
        </p:sp>
      </p:grpSp>
      <p:sp>
        <p:nvSpPr>
          <p:cNvPr id="15" name="TextBox 14">
            <a:extLst>
              <a:ext uri="{FF2B5EF4-FFF2-40B4-BE49-F238E27FC236}">
                <a16:creationId xmlns:a16="http://schemas.microsoft.com/office/drawing/2014/main" id="{0BEF904E-4480-8E4F-C31E-DFA208CAE41F}"/>
              </a:ext>
            </a:extLst>
          </p:cNvPr>
          <p:cNvSpPr txBox="1"/>
          <p:nvPr/>
        </p:nvSpPr>
        <p:spPr>
          <a:xfrm>
            <a:off x="327443" y="1474467"/>
            <a:ext cx="11864557" cy="4616648"/>
          </a:xfrm>
          <a:prstGeom prst="rect">
            <a:avLst/>
          </a:prstGeom>
          <a:solidFill>
            <a:schemeClr val="accent5">
              <a:lumMod val="20000"/>
              <a:lumOff val="80000"/>
            </a:schemeClr>
          </a:solidFill>
          <a:ln>
            <a:noFill/>
          </a:ln>
        </p:spPr>
        <p:txBody>
          <a:bodyPr wrap="square">
            <a:spAutoFit/>
          </a:bodyPr>
          <a:lstStyle/>
          <a:p>
            <a:r>
              <a:rPr lang="en-GB" sz="2100" dirty="0"/>
              <a:t>Humans have learned to use sound far beyond simply speaking and listening. One of the most important uses is in medicine. Ultrasound scanners send out sound waves at frequencies far too high for human ears to hear. When these waves pass through the body, they bounce off different tissues in different ways, and a computer uses the returning echoes to build a detailed picture. Doctors use ultrasound to check on unborn babies, look at organs and locate problems inside the body — all without the need to make a single cut. Out at sea, ships use a similar technology called sonar. Sound pulses are sent down into the ocean and the echoes that return tell sailors how deep the water is and whether any objects are lurking below. Fishing boats use sonar to detect large shoals of fish below the surface, and submarines use it to navigate without needing to surface. Closer to everyday life, noise-cancelling headphones work by picking up the sounds around you and producing an opposing sound wave that cancels them out. This remarkable trick means that much of the background noise you would otherwise hear simply disappears. All of these technologies share one idea: that sound carries information. Whether it is bouncing off a baby inside the womb or cancelling out the hum of an aeroplane engine, humans have found ways to make sound work for them in ways that our ancestors could never have imagined.</a:t>
            </a:r>
          </a:p>
        </p:txBody>
      </p:sp>
      <p:sp>
        <p:nvSpPr>
          <p:cNvPr id="6" name="Rounded Rectangle 5">
            <a:extLst>
              <a:ext uri="{FF2B5EF4-FFF2-40B4-BE49-F238E27FC236}">
                <a16:creationId xmlns:a16="http://schemas.microsoft.com/office/drawing/2014/main" id="{AF7E9D9C-3EFF-B30C-AE25-0DAC474137EE}"/>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Tree>
    <p:extLst>
      <p:ext uri="{BB962C8B-B14F-4D97-AF65-F5344CB8AC3E}">
        <p14:creationId xmlns:p14="http://schemas.microsoft.com/office/powerpoint/2010/main" val="13611780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15" grpId="0" animBg="1"/>
      <p:bldP spid="1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C1B7-9EA4-04FF-0C97-A66CABDEED31}"/>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C2DAC5B8-6F7C-C254-5668-0B5E034AA854}"/>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88A7D6AD-746E-4CF5-AF2B-28E446A461D9}"/>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D9AEAFAC-A333-5E7F-B5AC-01A474CD4AB4}"/>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7FFBEF20-8184-F88B-0700-6055D2C1113D}"/>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60824404-57A7-F6A4-4ED1-CEC78F111705}"/>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8589374B-AA45-73EC-DA20-84017D426E3D}"/>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0AAEDAF8-334D-4B8D-A5E7-34A2828D7027}"/>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17D52C08-BE23-B4B3-74C8-AF3561F1A08F}"/>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6E4803FB-20A0-5F57-A97B-5FE706AD2EF4}"/>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F1E6ABBB-A5FC-FC6F-AC02-7455E8A49A1D}"/>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AE4EE530-BE96-A11D-ED9A-FE669A1BE4E0}"/>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CE02F05C-CE8E-6F9F-506E-886A20834062}"/>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FEB31895-EE29-D586-187A-BDB3F615633F}"/>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99D0663D-7B81-DA22-ACD2-EF9C2EF0F558}"/>
              </a:ext>
            </a:extLst>
          </p:cNvPr>
          <p:cNvSpPr txBox="1"/>
          <p:nvPr/>
        </p:nvSpPr>
        <p:spPr>
          <a:xfrm>
            <a:off x="5068949" y="1230333"/>
            <a:ext cx="5311218" cy="1200329"/>
          </a:xfrm>
          <a:prstGeom prst="rect">
            <a:avLst/>
          </a:prstGeom>
          <a:noFill/>
        </p:spPr>
        <p:txBody>
          <a:bodyPr wrap="square" rtlCol="0">
            <a:spAutoFit/>
          </a:bodyPr>
          <a:lstStyle/>
          <a:p>
            <a:r>
              <a:rPr lang="en-GB" sz="2400">
                <a:latin typeface="+mj-lt"/>
              </a:rPr>
              <a:t>I  am learning to make inferences based a text and impressions given by the content</a:t>
            </a:r>
          </a:p>
        </p:txBody>
      </p:sp>
      <p:sp>
        <p:nvSpPr>
          <p:cNvPr id="20" name="Rectangle 19">
            <a:extLst>
              <a:ext uri="{FF2B5EF4-FFF2-40B4-BE49-F238E27FC236}">
                <a16:creationId xmlns:a16="http://schemas.microsoft.com/office/drawing/2014/main" id="{70922446-56BD-7CD6-F4B5-7B6374B2474D}"/>
              </a:ext>
            </a:extLst>
          </p:cNvPr>
          <p:cNvSpPr/>
          <p:nvPr/>
        </p:nvSpPr>
        <p:spPr>
          <a:xfrm>
            <a:off x="5597291" y="4824722"/>
            <a:ext cx="5583685" cy="1200329"/>
          </a:xfrm>
          <a:prstGeom prst="rect">
            <a:avLst/>
          </a:prstGeom>
          <a:noFill/>
        </p:spPr>
        <p:txBody>
          <a:bodyPr wrap="square">
            <a:spAutoFit/>
          </a:bodyPr>
          <a:lstStyle/>
          <a:p>
            <a:r>
              <a:rPr lang="en-GB" sz="2400">
                <a:latin typeface="+mj-lt"/>
              </a:rPr>
              <a:t>I will show this by using inference to answer questions making reference to the text to explain my thinking.</a:t>
            </a:r>
          </a:p>
        </p:txBody>
      </p:sp>
      <p:grpSp>
        <p:nvGrpSpPr>
          <p:cNvPr id="26" name="Group 25">
            <a:extLst>
              <a:ext uri="{FF2B5EF4-FFF2-40B4-BE49-F238E27FC236}">
                <a16:creationId xmlns:a16="http://schemas.microsoft.com/office/drawing/2014/main" id="{7FB633CA-E35B-320D-6BC1-B231290356AA}"/>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AAF2437B-DD29-B443-03B8-2D9F2750D517}"/>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9D4DBDF5-07DA-1FCC-E78F-A6C2D6608ADC}"/>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5D325E2E-4970-EF20-DF5C-EA620A5B8EA5}"/>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A3981EC5-F111-85AB-AB0A-75F8E6391CA1}"/>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A10E3CF8-A590-E1CB-A4D0-B9EF8D3C09F1}"/>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A3F650C8-C176-3031-E86F-301F47097263}"/>
              </a:ext>
            </a:extLst>
          </p:cNvPr>
          <p:cNvSpPr txBox="1"/>
          <p:nvPr/>
        </p:nvSpPr>
        <p:spPr>
          <a:xfrm>
            <a:off x="5873925" y="279302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a deeper understanding of what I am reading.</a:t>
            </a:r>
          </a:p>
        </p:txBody>
      </p:sp>
      <p:grpSp>
        <p:nvGrpSpPr>
          <p:cNvPr id="2" name="Group 1">
            <a:extLst>
              <a:ext uri="{FF2B5EF4-FFF2-40B4-BE49-F238E27FC236}">
                <a16:creationId xmlns:a16="http://schemas.microsoft.com/office/drawing/2014/main" id="{1068C22E-960C-D7E2-3865-8662832190F2}"/>
              </a:ext>
            </a:extLst>
          </p:cNvPr>
          <p:cNvGrpSpPr/>
          <p:nvPr/>
        </p:nvGrpSpPr>
        <p:grpSpPr>
          <a:xfrm>
            <a:off x="10380167" y="191551"/>
            <a:ext cx="1530874" cy="2075743"/>
            <a:chOff x="8657485" y="829505"/>
            <a:chExt cx="1316831" cy="1721352"/>
          </a:xfrm>
        </p:grpSpPr>
        <p:grpSp>
          <p:nvGrpSpPr>
            <p:cNvPr id="3" name="Group 2">
              <a:extLst>
                <a:ext uri="{FF2B5EF4-FFF2-40B4-BE49-F238E27FC236}">
                  <a16:creationId xmlns:a16="http://schemas.microsoft.com/office/drawing/2014/main" id="{647E0A32-063C-CA62-B468-5411CCCA7F19}"/>
                </a:ext>
              </a:extLst>
            </p:cNvPr>
            <p:cNvGrpSpPr/>
            <p:nvPr/>
          </p:nvGrpSpPr>
          <p:grpSpPr>
            <a:xfrm>
              <a:off x="8657485" y="829505"/>
              <a:ext cx="1316831" cy="1316831"/>
              <a:chOff x="3405584" y="4100477"/>
              <a:chExt cx="1316831" cy="1316831"/>
            </a:xfrm>
          </p:grpSpPr>
          <p:sp>
            <p:nvSpPr>
              <p:cNvPr id="21" name="Oval 20">
                <a:extLst>
                  <a:ext uri="{FF2B5EF4-FFF2-40B4-BE49-F238E27FC236}">
                    <a16:creationId xmlns:a16="http://schemas.microsoft.com/office/drawing/2014/main" id="{8E29CE7E-322B-97F1-8FF8-1FD79344C3B2}"/>
                  </a:ext>
                </a:extLst>
              </p:cNvPr>
              <p:cNvSpPr/>
              <p:nvPr/>
            </p:nvSpPr>
            <p:spPr>
              <a:xfrm>
                <a:off x="3405584" y="4100477"/>
                <a:ext cx="1316831" cy="1316831"/>
              </a:xfrm>
              <a:prstGeom prst="ellipse">
                <a:avLst/>
              </a:prstGeom>
              <a:solidFill>
                <a:srgbClr val="FFD5EE"/>
              </a:solidFill>
              <a:ln w="38100">
                <a:solidFill>
                  <a:srgbClr val="CD007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2" name="Oval 4">
                <a:extLst>
                  <a:ext uri="{FF2B5EF4-FFF2-40B4-BE49-F238E27FC236}">
                    <a16:creationId xmlns:a16="http://schemas.microsoft.com/office/drawing/2014/main" id="{D38501BE-C17A-679D-9CE9-9F5F63A83E01}"/>
                  </a:ext>
                </a:extLst>
              </p:cNvPr>
              <p:cNvSpPr txBox="1"/>
              <p:nvPr/>
            </p:nvSpPr>
            <p:spPr>
              <a:xfrm>
                <a:off x="3598429" y="429332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a:solidFill>
                      <a:srgbClr val="CD007A"/>
                    </a:solidFill>
                    <a:latin typeface="Sassoon Infant Rg" panose="02000503030000020003" pitchFamily="2" charset="0"/>
                    <a:ea typeface="Sassoon Infant Rg" panose="02000503030000020003" pitchFamily="2" charset="0"/>
                  </a:rPr>
                  <a:t>Discuss &amp; explain thinking &amp; understanding</a:t>
                </a:r>
              </a:p>
            </p:txBody>
          </p:sp>
        </p:grpSp>
        <p:sp>
          <p:nvSpPr>
            <p:cNvPr id="4" name="TextBox 3">
              <a:extLst>
                <a:ext uri="{FF2B5EF4-FFF2-40B4-BE49-F238E27FC236}">
                  <a16:creationId xmlns:a16="http://schemas.microsoft.com/office/drawing/2014/main" id="{E4769B3E-5F24-74B9-46F8-42B351623EB8}"/>
                </a:ext>
              </a:extLst>
            </p:cNvPr>
            <p:cNvSpPr txBox="1"/>
            <p:nvPr/>
          </p:nvSpPr>
          <p:spPr>
            <a:xfrm>
              <a:off x="8826392" y="2243080"/>
              <a:ext cx="979015" cy="307777"/>
            </a:xfrm>
            <a:prstGeom prst="rect">
              <a:avLst/>
            </a:prstGeom>
            <a:noFill/>
          </p:spPr>
          <p:txBody>
            <a:bodyPr wrap="square" rtlCol="0">
              <a:spAutoFit/>
            </a:bodyPr>
            <a:lstStyle/>
            <a:p>
              <a:pPr algn="ctr"/>
              <a:r>
                <a:rPr lang="en-GB" sz="1400" b="1">
                  <a:solidFill>
                    <a:srgbClr val="CD007A"/>
                  </a:solidFill>
                </a:rPr>
                <a:t>infer</a:t>
              </a:r>
            </a:p>
          </p:txBody>
        </p:sp>
      </p:grpSp>
    </p:spTree>
    <p:extLst>
      <p:ext uri="{BB962C8B-B14F-4D97-AF65-F5344CB8AC3E}">
        <p14:creationId xmlns:p14="http://schemas.microsoft.com/office/powerpoint/2010/main" val="356763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D0C1D3-F7A1-0253-E494-88FD5E677ECD}"/>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3" name="TextBox 2">
            <a:extLst>
              <a:ext uri="{FF2B5EF4-FFF2-40B4-BE49-F238E27FC236}">
                <a16:creationId xmlns:a16="http://schemas.microsoft.com/office/drawing/2014/main" id="{51075E66-FA16-52C6-34C9-0AF5B93AB031}"/>
              </a:ext>
            </a:extLst>
          </p:cNvPr>
          <p:cNvSpPr txBox="1"/>
          <p:nvPr/>
        </p:nvSpPr>
        <p:spPr>
          <a:xfrm>
            <a:off x="203326" y="1751226"/>
            <a:ext cx="11713854" cy="2503249"/>
          </a:xfrm>
          <a:prstGeom prst="rect">
            <a:avLst/>
          </a:prstGeom>
          <a:noFill/>
        </p:spPr>
        <p:txBody>
          <a:bodyPr wrap="square" rtlCol="0">
            <a:spAutoFit/>
          </a:bodyPr>
          <a:lstStyle/>
          <a:p>
            <a:pPr lvl="1">
              <a:spcAft>
                <a:spcPts val="500"/>
              </a:spcAft>
            </a:pPr>
            <a:r>
              <a:rPr lang="en-GB" sz="2200"/>
              <a:t>What do ultrasound and sonar have in common? Use evidence from the text.</a:t>
            </a:r>
          </a:p>
          <a:p>
            <a:pPr lvl="1">
              <a:spcAft>
                <a:spcPts val="500"/>
              </a:spcAft>
            </a:pPr>
            <a:r>
              <a:rPr lang="en-GB" sz="2200"/>
              <a:t>Both use sound waves that bounce off objects and return as echoes. Doctors use the echoes to build pictures inside the body; ships use the echoes to detect underwater objects. Both rely on the idea that sound carries information.</a:t>
            </a:r>
          </a:p>
          <a:p>
            <a:pPr lvl="1">
              <a:spcAft>
                <a:spcPts val="500"/>
              </a:spcAft>
            </a:pPr>
            <a:endParaRPr lang="en-GB" sz="2200"/>
          </a:p>
          <a:p>
            <a:pPr lvl="1">
              <a:spcAft>
                <a:spcPts val="500"/>
              </a:spcAft>
            </a:pPr>
            <a:r>
              <a:rPr lang="en-GB" sz="2200"/>
              <a:t>The text says humans have made sound 'work for them in ways our ancestors could never have imagined'. What does this tell us about the importance of understanding sound?</a:t>
            </a:r>
          </a:p>
          <a:p>
            <a:pPr lvl="1">
              <a:spcAft>
                <a:spcPts val="500"/>
              </a:spcAft>
            </a:pPr>
            <a:r>
              <a:rPr lang="en-GB" sz="2200"/>
              <a:t>It tells us that scientific understanding leads to real-world uses. Once humans understood how sound travels and carries information, they could build technologies like ultrasound scanners, sonar and noise-cancelling headphones that solve problems in medicine, navigation and everyday life.</a:t>
            </a:r>
          </a:p>
        </p:txBody>
      </p:sp>
      <p:sp>
        <p:nvSpPr>
          <p:cNvPr id="4" name="TextBox 3">
            <a:extLst>
              <a:ext uri="{FF2B5EF4-FFF2-40B4-BE49-F238E27FC236}">
                <a16:creationId xmlns:a16="http://schemas.microsoft.com/office/drawing/2014/main" id="{F3C8B00E-4395-2B1F-0E54-64B10CD0B6C2}"/>
              </a:ext>
            </a:extLst>
          </p:cNvPr>
          <p:cNvSpPr txBox="1"/>
          <p:nvPr/>
        </p:nvSpPr>
        <p:spPr>
          <a:xfrm>
            <a:off x="288098" y="335454"/>
            <a:ext cx="6137578" cy="707886"/>
          </a:xfrm>
          <a:prstGeom prst="rect">
            <a:avLst/>
          </a:prstGeom>
          <a:noFill/>
        </p:spPr>
        <p:txBody>
          <a:bodyPr wrap="none" rtlCol="0">
            <a:spAutoFit/>
          </a:bodyPr>
          <a:lstStyle/>
          <a:p>
            <a:r>
              <a:rPr lang="en-GB" sz="4000" b="1" u="sng"/>
              <a:t>Practice questions - Inference</a:t>
            </a:r>
          </a:p>
        </p:txBody>
      </p:sp>
      <p:sp>
        <p:nvSpPr>
          <p:cNvPr id="5" name="TextBox 4">
            <a:extLst>
              <a:ext uri="{FF2B5EF4-FFF2-40B4-BE49-F238E27FC236}">
                <a16:creationId xmlns:a16="http://schemas.microsoft.com/office/drawing/2014/main" id="{3C7B5B94-55FF-FA24-1108-E5E3027EDA55}"/>
              </a:ext>
            </a:extLst>
          </p:cNvPr>
          <p:cNvSpPr txBox="1"/>
          <p:nvPr/>
        </p:nvSpPr>
        <p:spPr>
          <a:xfrm>
            <a:off x="288098" y="937015"/>
            <a:ext cx="10022616" cy="369332"/>
          </a:xfrm>
          <a:prstGeom prst="rect">
            <a:avLst/>
          </a:prstGeom>
          <a:noFill/>
        </p:spPr>
        <p:txBody>
          <a:bodyPr wrap="none" rtlCol="0">
            <a:spAutoFit/>
          </a:bodyPr>
          <a:lstStyle/>
          <a:p>
            <a:r>
              <a:rPr lang="en-GB"/>
              <a:t>Remember – we need to think about the meaning of the sentence or text and not just what the words say</a:t>
            </a:r>
          </a:p>
        </p:txBody>
      </p:sp>
      <p:sp>
        <p:nvSpPr>
          <p:cNvPr id="6" name="TextBox 5">
            <a:extLst>
              <a:ext uri="{FF2B5EF4-FFF2-40B4-BE49-F238E27FC236}">
                <a16:creationId xmlns:a16="http://schemas.microsoft.com/office/drawing/2014/main" id="{4B78B141-8576-E20B-2F39-FBAE3153D0A7}"/>
              </a:ext>
            </a:extLst>
          </p:cNvPr>
          <p:cNvSpPr txBox="1"/>
          <p:nvPr/>
        </p:nvSpPr>
        <p:spPr>
          <a:xfrm>
            <a:off x="324410" y="5804030"/>
            <a:ext cx="10292816" cy="830997"/>
          </a:xfrm>
          <a:prstGeom prst="rect">
            <a:avLst/>
          </a:prstGeom>
          <a:noFill/>
        </p:spPr>
        <p:txBody>
          <a:bodyPr wrap="square" rtlCol="0">
            <a:spAutoFit/>
          </a:bodyPr>
          <a:lstStyle/>
          <a:p>
            <a:r>
              <a:rPr lang="en-GB" sz="2400"/>
              <a:t>Checking my answers – does my answer link to and use evidence from the text to explain?</a:t>
            </a:r>
          </a:p>
        </p:txBody>
      </p:sp>
      <p:sp>
        <p:nvSpPr>
          <p:cNvPr id="7" name="TextBox 6">
            <a:extLst>
              <a:ext uri="{FF2B5EF4-FFF2-40B4-BE49-F238E27FC236}">
                <a16:creationId xmlns:a16="http://schemas.microsoft.com/office/drawing/2014/main" id="{2D531562-5165-591B-D14E-450889DD7D41}"/>
              </a:ext>
            </a:extLst>
          </p:cNvPr>
          <p:cNvSpPr txBox="1"/>
          <p:nvPr/>
        </p:nvSpPr>
        <p:spPr>
          <a:xfrm>
            <a:off x="288098" y="1315463"/>
            <a:ext cx="11468797" cy="4488567"/>
          </a:xfrm>
          <a:prstGeom prst="rect">
            <a:avLst/>
          </a:prstGeom>
          <a:solidFill>
            <a:schemeClr val="accent5">
              <a:lumMod val="20000"/>
              <a:lumOff val="80000"/>
            </a:schemeClr>
          </a:solidFill>
        </p:spPr>
        <p:txBody>
          <a:bodyPr wrap="square" anchor="ctr">
            <a:normAutofit fontScale="92500"/>
          </a:bodyPr>
          <a:lstStyle/>
          <a:p>
            <a:r>
              <a:rPr lang="en-GB" sz="2200" dirty="0"/>
              <a:t>Humans have learned to use sound far beyond simply speaking and listening. One of the most important uses is in medicine. Ultrasound scanners send out sound waves at frequencies far too high for human ears to hear. When these waves pass through the body, they bounce off different tissues in different ways, and a computer uses the returning echoes to build a detailed picture. Doctors use ultrasound to check on unborn babies, look at organs and locate problems inside the body — all without the need to make a single cut. Out at sea, ships use a similar technology called sonar. Sound pulses are sent down into the ocean and the echoes that return tell sailors how deep the water is and whether any objects are lurking below. Fishing boats use sonar to detect large shoals of fish below the surface, and submarines use it to navigate without needing to surface. Closer to everyday life, noise-cancelling headphones work by picking up the sounds around you and producing an opposing sound wave that cancels them out. This remarkable trick means that much of the background noise you would otherwise hear simply disappears. All of these technologies share one idea: that sound carries information. Whether it is bouncing off a baby inside the womb or cancelling out the hum of an aeroplane engine, humans have found ways to make sound work for them in ways that our ancestors could never have imagined.</a:t>
            </a:r>
          </a:p>
        </p:txBody>
      </p:sp>
      <p:sp>
        <p:nvSpPr>
          <p:cNvPr id="8" name="Rounded Rectangle 7">
            <a:extLst>
              <a:ext uri="{FF2B5EF4-FFF2-40B4-BE49-F238E27FC236}">
                <a16:creationId xmlns:a16="http://schemas.microsoft.com/office/drawing/2014/main" id="{7E99280E-0C4B-34AA-330A-FDF5BFFC4BEA}"/>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pic>
        <p:nvPicPr>
          <p:cNvPr id="9" name="Picture 8">
            <a:extLst>
              <a:ext uri="{FF2B5EF4-FFF2-40B4-BE49-F238E27FC236}">
                <a16:creationId xmlns:a16="http://schemas.microsoft.com/office/drawing/2014/main" id="{D68A2163-582D-E857-4F86-218490351329}"/>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245245"/>
            <a:ext cx="1175241" cy="515071"/>
          </a:xfrm>
          <a:prstGeom prst="rect">
            <a:avLst/>
          </a:prstGeom>
        </p:spPr>
      </p:pic>
    </p:spTree>
    <p:extLst>
      <p:ext uri="{BB962C8B-B14F-4D97-AF65-F5344CB8AC3E}">
        <p14:creationId xmlns:p14="http://schemas.microsoft.com/office/powerpoint/2010/main" val="409420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8"/>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p:bldP spid="7" grpId="0" animBg="1"/>
      <p:bldP spid="7"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assoon Infant Rg"/>
        <a:ea typeface=""/>
        <a:cs typeface=""/>
      </a:majorFont>
      <a:minorFont>
        <a:latin typeface="Sassoon Infant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C71695694772F44B387615DF8DED97F" ma:contentTypeVersion="16" ma:contentTypeDescription="Create a new document." ma:contentTypeScope="" ma:versionID="6b988a150421d80c99f84aa2bfb3de38">
  <xsd:schema xmlns:xsd="http://www.w3.org/2001/XMLSchema" xmlns:xs="http://www.w3.org/2001/XMLSchema" xmlns:p="http://schemas.microsoft.com/office/2006/metadata/properties" xmlns:ns2="9e6dd442-da5e-411e-833f-0fee7dcd7819" xmlns:ns3="4848fd07-94db-4308-8950-9cb0e230b958" targetNamespace="http://schemas.microsoft.com/office/2006/metadata/properties" ma:root="true" ma:fieldsID="0840e1ae8104f568f88bbc0ee80d0ce2" ns2:_="" ns3:_="">
    <xsd:import namespace="9e6dd442-da5e-411e-833f-0fee7dcd7819"/>
    <xsd:import namespace="4848fd07-94db-4308-8950-9cb0e230b9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6dd442-da5e-411e-833f-0fee7dcd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08261e-ebf2-489e-9cf5-3c5ddf1ef55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48fd07-94db-4308-8950-9cb0e230b95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0903c9d-9125-4551-886d-abbd3fd64318}" ma:internalName="TaxCatchAll" ma:showField="CatchAllData" ma:web="4848fd07-94db-4308-8950-9cb0e230b95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848fd07-94db-4308-8950-9cb0e230b958" xsi:nil="true"/>
    <lcf76f155ced4ddcb4097134ff3c332f xmlns="9e6dd442-da5e-411e-833f-0fee7dcd7819">
      <Terms xmlns="http://schemas.microsoft.com/office/infopath/2007/PartnerControls"/>
    </lcf76f155ced4ddcb4097134ff3c332f>
    <SharedWithUsers xmlns="4848fd07-94db-4308-8950-9cb0e230b958">
      <UserInfo>
        <DisplayName>Jo Hewitt - WFA</DisplayName>
        <AccountId>40</AccountId>
        <AccountType/>
      </UserInfo>
      <UserInfo>
        <DisplayName>Jonathan Miller - WFA</DisplayName>
        <AccountId>57</AccountId>
        <AccountType/>
      </UserInfo>
    </SharedWithUsers>
  </documentManagement>
</p:properties>
</file>

<file path=customXml/itemProps1.xml><?xml version="1.0" encoding="utf-8"?>
<ds:datastoreItem xmlns:ds="http://schemas.openxmlformats.org/officeDocument/2006/customXml" ds:itemID="{DE02CAFD-7AEC-4FCB-8049-4FEF8A0D00D8}">
  <ds:schemaRefs>
    <ds:schemaRef ds:uri="http://schemas.microsoft.com/sharepoint/v3/contenttype/forms"/>
  </ds:schemaRefs>
</ds:datastoreItem>
</file>

<file path=customXml/itemProps2.xml><?xml version="1.0" encoding="utf-8"?>
<ds:datastoreItem xmlns:ds="http://schemas.openxmlformats.org/officeDocument/2006/customXml" ds:itemID="{71D150B1-45AA-4FD4-8213-B2AC8AE18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6dd442-da5e-411e-833f-0fee7dcd7819"/>
    <ds:schemaRef ds:uri="4848fd07-94db-4308-8950-9cb0e230b9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5AAA2B-1185-4CA6-878D-532686679D9F}">
  <ds:schemaRefs>
    <ds:schemaRef ds:uri="4848fd07-94db-4308-8950-9cb0e230b958"/>
    <ds:schemaRef ds:uri="http://purl.org/dc/elements/1.1/"/>
    <ds:schemaRef ds:uri="http://schemas.microsoft.com/office/2006/documentManagement/types"/>
    <ds:schemaRef ds:uri="9e6dd442-da5e-411e-833f-0fee7dcd7819"/>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2690</TotalTime>
  <Words>3090</Words>
  <Application>Microsoft Macintosh PowerPoint</Application>
  <PresentationFormat>Widescreen</PresentationFormat>
  <Paragraphs>204</Paragraphs>
  <Slides>22</Slides>
  <Notes>13</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Sassoon Infant Rg</vt:lpstr>
      <vt:lpstr>Sassoon Primary Rg</vt:lpstr>
      <vt:lpstr>Twinkl Cursive Looped Light</vt:lpstr>
      <vt:lpstr>XCCW Joined 4a</vt:lpstr>
      <vt:lpstr>Office Theme</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 Rea - WFA</dc:creator>
  <cp:lastModifiedBy>innes mclean</cp:lastModifiedBy>
  <cp:revision>2</cp:revision>
  <cp:lastPrinted>2024-09-12T11:50:42Z</cp:lastPrinted>
  <dcterms:created xsi:type="dcterms:W3CDTF">2024-01-22T14:53:27Z</dcterms:created>
  <dcterms:modified xsi:type="dcterms:W3CDTF">2026-05-09T18:40:13Z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0x010100AC71695694772F44B387615DF8DED97F</vt:lpwstr>
  </property>
</Properties>
</file>